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4630400" cy="8229600"/>
  <p:notesSz cx="8229600" cy="14630400"/>
  <p:embeddedFontLst>
    <p:embeddedFont>
      <p:font typeface="Roboto" panose="02000000000000000000" pitchFamily="2" charset="0"/>
      <p:regular r:id="rId14"/>
    </p:embeddedFont>
    <p:embeddedFont>
      <p:font typeface="Roboto Mono Medium" panose="00000009000000000000" pitchFamily="49"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291" autoAdjust="0"/>
  </p:normalViewPr>
  <p:slideViewPr>
    <p:cSldViewPr snapToGrid="0" snapToObjects="1">
      <p:cViewPr varScale="1">
        <p:scale>
          <a:sx n="61" d="100"/>
          <a:sy n="61" d="100"/>
        </p:scale>
        <p:origin x="6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2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D345B-9B36-4816-00FD-B45C7F814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40D9C-0452-D9B8-3E47-DB3C74D7F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086F1-B996-D69E-BBE4-19CC79685B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F3B9C-E0AD-A4B3-95BA-90AAED1D9A9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08713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Predicting Online Shopper Behavior with Machine Learning</a:t>
            </a:r>
            <a:endParaRPr lang="en-US" sz="4450" dirty="0"/>
          </a:p>
        </p:txBody>
      </p:sp>
      <p:sp>
        <p:nvSpPr>
          <p:cNvPr id="4" name="Text 1"/>
          <p:cNvSpPr/>
          <p:nvPr/>
        </p:nvSpPr>
        <p:spPr>
          <a:xfrm>
            <a:off x="62801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A Comparative Analysis of Machine Learning Algorithms for E-commerce Behavior Prediction.</a:t>
            </a:r>
          </a:p>
          <a:p>
            <a:pPr marL="0" indent="0" algn="l">
              <a:lnSpc>
                <a:spcPts val="2850"/>
              </a:lnSpc>
              <a:buNone/>
            </a:pPr>
            <a:endParaRPr lang="en-US" sz="1750" dirty="0">
              <a:solidFill>
                <a:srgbClr val="E5E0DF"/>
              </a:solidFill>
              <a:latin typeface="Roboto" pitchFamily="34" charset="0"/>
              <a:ea typeface="Roboto" pitchFamily="34" charset="-122"/>
              <a:cs typeface="Roboto" pitchFamily="34" charset="-120"/>
            </a:endParaRPr>
          </a:p>
          <a:p>
            <a:pPr marL="0" indent="0" algn="l">
              <a:lnSpc>
                <a:spcPts val="2850"/>
              </a:lnSpc>
              <a:buNone/>
            </a:pPr>
            <a:endParaRPr lang="en-US" sz="1750" dirty="0">
              <a:solidFill>
                <a:srgbClr val="E5E0DF"/>
              </a:solidFill>
              <a:latin typeface="Roboto" pitchFamily="34" charset="0"/>
              <a:ea typeface="Roboto" pitchFamily="34" charset="-122"/>
              <a:cs typeface="Roboto" pitchFamily="34" charset="-120"/>
            </a:endParaRPr>
          </a:p>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Presented By: Farhat Khalid (SP25-RCS-008)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4824" y="388739"/>
            <a:ext cx="12935783" cy="441841"/>
          </a:xfrm>
          <a:prstGeom prst="rect">
            <a:avLst/>
          </a:prstGeom>
          <a:noFill/>
          <a:ln/>
        </p:spPr>
        <p:txBody>
          <a:bodyPr wrap="none" lIns="0" tIns="0" rIns="0" bIns="0" rtlCol="0" anchor="t"/>
          <a:lstStyle/>
          <a:p>
            <a:pPr marL="0" indent="0" algn="l">
              <a:lnSpc>
                <a:spcPts val="3450"/>
              </a:lnSpc>
              <a:buNone/>
            </a:pPr>
            <a:r>
              <a:rPr lang="en-US" sz="2750" dirty="0">
                <a:solidFill>
                  <a:srgbClr val="FFFFFF"/>
                </a:solidFill>
                <a:latin typeface="Roboto Mono Medium" pitchFamily="34" charset="0"/>
                <a:ea typeface="Roboto Mono Medium" pitchFamily="34" charset="-122"/>
                <a:cs typeface="Roboto Mono Medium" pitchFamily="34" charset="-120"/>
              </a:rPr>
              <a:t>Introduction: The Rise of E-commerce and Predictive Analytics</a:t>
            </a:r>
            <a:endParaRPr lang="en-US" sz="2750" dirty="0"/>
          </a:p>
        </p:txBody>
      </p:sp>
      <p:sp>
        <p:nvSpPr>
          <p:cNvPr id="3" name="Text 1"/>
          <p:cNvSpPr/>
          <p:nvPr/>
        </p:nvSpPr>
        <p:spPr>
          <a:xfrm>
            <a:off x="494824" y="1169789"/>
            <a:ext cx="8046482" cy="678656"/>
          </a:xfrm>
          <a:prstGeom prst="rect">
            <a:avLst/>
          </a:prstGeom>
          <a:noFill/>
          <a:ln/>
        </p:spPr>
        <p:txBody>
          <a:bodyPr wrap="square" lIns="0" tIns="0" rIns="0" bIns="0" rtlCol="0" anchor="t"/>
          <a:lstStyle/>
          <a:p>
            <a:pPr marL="0" indent="0" algn="l">
              <a:lnSpc>
                <a:spcPts val="1750"/>
              </a:lnSpc>
              <a:buNone/>
            </a:pPr>
            <a:r>
              <a:rPr lang="en-US" sz="1600" dirty="0">
                <a:solidFill>
                  <a:srgbClr val="E5E0DF"/>
                </a:solidFill>
                <a:latin typeface="Roboto" pitchFamily="34" charset="0"/>
                <a:ea typeface="Roboto" pitchFamily="34" charset="-122"/>
                <a:cs typeface="Roboto" pitchFamily="34" charset="-120"/>
              </a:rPr>
              <a:t>The rapid evolution of the internet and e-commerce has fundamentally reshaped consumer purchasing habits and business marketing strategies. As online shopping continues its accelerated growth, particularly influenced by global events, understanding and predicting consumer behavior has become paramount for businesses.</a:t>
            </a:r>
            <a:endParaRPr lang="en-US" sz="1600" dirty="0"/>
          </a:p>
        </p:txBody>
      </p:sp>
      <p:sp>
        <p:nvSpPr>
          <p:cNvPr id="4" name="Text 2"/>
          <p:cNvSpPr/>
          <p:nvPr/>
        </p:nvSpPr>
        <p:spPr>
          <a:xfrm>
            <a:off x="487322" y="2666050"/>
            <a:ext cx="8046482" cy="452438"/>
          </a:xfrm>
          <a:prstGeom prst="rect">
            <a:avLst/>
          </a:prstGeom>
          <a:noFill/>
          <a:ln/>
        </p:spPr>
        <p:txBody>
          <a:bodyPr wrap="square" lIns="0" tIns="0" rIns="0" bIns="0" rtlCol="0" anchor="t"/>
          <a:lstStyle/>
          <a:p>
            <a:pPr marL="0" indent="0" algn="l">
              <a:lnSpc>
                <a:spcPts val="1750"/>
              </a:lnSpc>
              <a:buNone/>
            </a:pPr>
            <a:r>
              <a:rPr lang="en-US" sz="1600" dirty="0">
                <a:solidFill>
                  <a:srgbClr val="E5E0DF"/>
                </a:solidFill>
                <a:latin typeface="Roboto" pitchFamily="34" charset="0"/>
                <a:ea typeface="Roboto" pitchFamily="34" charset="-122"/>
                <a:cs typeface="Roboto" pitchFamily="34" charset="-120"/>
              </a:rPr>
              <a:t>This research addresses the critical need for advanced predictive models to decipher complex online purchasing patterns, which can significantly enhance revenue generation and customer retention for e-commerce platforms.</a:t>
            </a:r>
            <a:endParaRPr lang="en-US" sz="1600" dirty="0"/>
          </a:p>
        </p:txBody>
      </p:sp>
      <p:pic>
        <p:nvPicPr>
          <p:cNvPr id="5" name="Image 0" descr="preencoded.png"/>
          <p:cNvPicPr>
            <a:picLocks noChangeAspect="1"/>
          </p:cNvPicPr>
          <p:nvPr/>
        </p:nvPicPr>
        <p:blipFill>
          <a:blip r:embed="rId3"/>
          <a:stretch>
            <a:fillRect/>
          </a:stretch>
        </p:blipFill>
        <p:spPr>
          <a:xfrm>
            <a:off x="8893731" y="1201698"/>
            <a:ext cx="5249347" cy="5249347"/>
          </a:xfrm>
          <a:prstGeom prst="rect">
            <a:avLst/>
          </a:prstGeom>
        </p:spPr>
      </p:pic>
      <p:sp>
        <p:nvSpPr>
          <p:cNvPr id="6" name="Shape 3"/>
          <p:cNvSpPr/>
          <p:nvPr/>
        </p:nvSpPr>
        <p:spPr>
          <a:xfrm>
            <a:off x="494824" y="6556759"/>
            <a:ext cx="13640752" cy="25241"/>
          </a:xfrm>
          <a:prstGeom prst="rect">
            <a:avLst/>
          </a:prstGeom>
          <a:solidFill>
            <a:srgbClr val="E5E0DF">
              <a:alpha val="50000"/>
            </a:srgbClr>
          </a:solidFill>
          <a:ln/>
        </p:spPr>
      </p:sp>
      <p:sp>
        <p:nvSpPr>
          <p:cNvPr id="7" name="Text 4"/>
          <p:cNvSpPr/>
          <p:nvPr/>
        </p:nvSpPr>
        <p:spPr>
          <a:xfrm>
            <a:off x="494824" y="7076956"/>
            <a:ext cx="1908572" cy="220861"/>
          </a:xfrm>
          <a:prstGeom prst="rect">
            <a:avLst/>
          </a:prstGeom>
          <a:noFill/>
          <a:ln/>
        </p:spPr>
        <p:txBody>
          <a:bodyPr wrap="none" lIns="0" tIns="0" rIns="0" bIns="0" rtlCol="0" anchor="t"/>
          <a:lstStyle/>
          <a:p>
            <a:pPr marL="0" indent="0" algn="l">
              <a:lnSpc>
                <a:spcPts val="1700"/>
              </a:lnSpc>
              <a:buNone/>
            </a:pPr>
            <a:r>
              <a:rPr lang="en-US" sz="1600" dirty="0">
                <a:solidFill>
                  <a:srgbClr val="FFFFFF"/>
                </a:solidFill>
                <a:latin typeface="Roboto Mono Medium" pitchFamily="34" charset="0"/>
                <a:ea typeface="Roboto Mono Medium" pitchFamily="34" charset="-122"/>
                <a:cs typeface="Roboto Mono Medium" pitchFamily="34" charset="-120"/>
              </a:rPr>
              <a:t>Key Contributions:</a:t>
            </a:r>
            <a:endParaRPr lang="en-US" sz="1600" dirty="0"/>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7807" y="7516892"/>
            <a:ext cx="212050" cy="212050"/>
          </a:xfrm>
          <a:prstGeom prst="rect">
            <a:avLst/>
          </a:prstGeom>
        </p:spPr>
      </p:pic>
      <p:sp>
        <p:nvSpPr>
          <p:cNvPr id="9" name="Text 5"/>
          <p:cNvSpPr/>
          <p:nvPr/>
        </p:nvSpPr>
        <p:spPr>
          <a:xfrm>
            <a:off x="954286" y="7509867"/>
            <a:ext cx="6272570" cy="226219"/>
          </a:xfrm>
          <a:prstGeom prst="rect">
            <a:avLst/>
          </a:prstGeom>
          <a:noFill/>
          <a:ln/>
        </p:spPr>
        <p:txBody>
          <a:bodyPr wrap="none" lIns="0" tIns="0" rIns="0" bIns="0" rtlCol="0" anchor="t"/>
          <a:lstStyle/>
          <a:p>
            <a:pPr marL="0" indent="0" algn="l">
              <a:lnSpc>
                <a:spcPts val="1750"/>
              </a:lnSpc>
              <a:buNone/>
            </a:pPr>
            <a:r>
              <a:rPr lang="en-US" sz="1200" b="1" dirty="0">
                <a:solidFill>
                  <a:srgbClr val="E5E0DF"/>
                </a:solidFill>
                <a:latin typeface="Roboto" pitchFamily="34" charset="0"/>
                <a:ea typeface="Roboto" pitchFamily="34" charset="-122"/>
                <a:cs typeface="Roboto" pitchFamily="34" charset="-120"/>
              </a:rPr>
              <a:t>Data Collection &amp; Pre-processing:</a:t>
            </a:r>
            <a:r>
              <a:rPr lang="en-US" sz="1200" dirty="0">
                <a:solidFill>
                  <a:srgbClr val="E5E0DF"/>
                </a:solidFill>
                <a:latin typeface="Roboto" pitchFamily="34" charset="0"/>
                <a:ea typeface="Roboto" pitchFamily="34" charset="-122"/>
                <a:cs typeface="Roboto" pitchFamily="34" charset="-120"/>
              </a:rPr>
              <a:t> Assembled and refined a dataset of user session data.</a:t>
            </a:r>
            <a:endParaRPr lang="en-US" sz="1200" dirty="0"/>
          </a:p>
        </p:txBody>
      </p:sp>
      <p:pic>
        <p:nvPicPr>
          <p:cNvPr id="10"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56527" y="7516892"/>
            <a:ext cx="212050" cy="212050"/>
          </a:xfrm>
          <a:prstGeom prst="rect">
            <a:avLst/>
          </a:prstGeom>
        </p:spPr>
      </p:pic>
      <p:sp>
        <p:nvSpPr>
          <p:cNvPr id="11" name="Text 6"/>
          <p:cNvSpPr/>
          <p:nvPr/>
        </p:nvSpPr>
        <p:spPr>
          <a:xfrm>
            <a:off x="7863007" y="7509867"/>
            <a:ext cx="6272570" cy="226219"/>
          </a:xfrm>
          <a:prstGeom prst="rect">
            <a:avLst/>
          </a:prstGeom>
          <a:noFill/>
          <a:ln/>
        </p:spPr>
        <p:txBody>
          <a:bodyPr wrap="none" lIns="0" tIns="0" rIns="0" bIns="0" rtlCol="0" anchor="t"/>
          <a:lstStyle/>
          <a:p>
            <a:pPr marL="0" indent="0" algn="l">
              <a:lnSpc>
                <a:spcPts val="1750"/>
              </a:lnSpc>
              <a:buNone/>
            </a:pPr>
            <a:r>
              <a:rPr lang="en-US" sz="1200" b="1" dirty="0">
                <a:solidFill>
                  <a:srgbClr val="E5E0DF"/>
                </a:solidFill>
                <a:latin typeface="Roboto" pitchFamily="34" charset="0"/>
                <a:ea typeface="Roboto" pitchFamily="34" charset="-122"/>
                <a:cs typeface="Roboto" pitchFamily="34" charset="-120"/>
              </a:rPr>
              <a:t>Data Analysis:</a:t>
            </a:r>
            <a:r>
              <a:rPr lang="en-US" sz="1200" dirty="0">
                <a:solidFill>
                  <a:srgbClr val="E5E0DF"/>
                </a:solidFill>
                <a:latin typeface="Roboto" pitchFamily="34" charset="0"/>
                <a:ea typeface="Roboto" pitchFamily="34" charset="-122"/>
                <a:cs typeface="Roboto" pitchFamily="34" charset="-120"/>
              </a:rPr>
              <a:t> Derived insights from existing data to inform system development</a:t>
            </a:r>
            <a:r>
              <a:rPr lang="en-US" sz="1100" dirty="0">
                <a:solidFill>
                  <a:srgbClr val="E5E0DF"/>
                </a:solidFill>
                <a:latin typeface="Roboto" pitchFamily="34" charset="0"/>
                <a:ea typeface="Roboto" pitchFamily="34" charset="-122"/>
                <a:cs typeface="Roboto" pitchFamily="34" charset="-120"/>
              </a:rPr>
              <a:t>.</a:t>
            </a:r>
            <a:endParaRPr lang="en-US" sz="110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8996" y="7958068"/>
            <a:ext cx="212050" cy="212050"/>
          </a:xfrm>
          <a:prstGeom prst="rect">
            <a:avLst/>
          </a:prstGeom>
        </p:spPr>
      </p:pic>
      <p:sp>
        <p:nvSpPr>
          <p:cNvPr id="13" name="Text 7"/>
          <p:cNvSpPr/>
          <p:nvPr/>
        </p:nvSpPr>
        <p:spPr>
          <a:xfrm>
            <a:off x="954286" y="7928002"/>
            <a:ext cx="6272570" cy="226219"/>
          </a:xfrm>
          <a:prstGeom prst="rect">
            <a:avLst/>
          </a:prstGeom>
          <a:noFill/>
          <a:ln/>
        </p:spPr>
        <p:txBody>
          <a:bodyPr wrap="none" lIns="0" tIns="0" rIns="0" bIns="0" rtlCol="0" anchor="t"/>
          <a:lstStyle/>
          <a:p>
            <a:pPr marL="0" indent="0" algn="l">
              <a:lnSpc>
                <a:spcPts val="1750"/>
              </a:lnSpc>
              <a:buNone/>
            </a:pPr>
            <a:r>
              <a:rPr lang="en-US" sz="1200" b="1" dirty="0">
                <a:solidFill>
                  <a:srgbClr val="E5E0DF"/>
                </a:solidFill>
                <a:latin typeface="Roboto" pitchFamily="34" charset="0"/>
                <a:ea typeface="Roboto" pitchFamily="34" charset="-122"/>
                <a:cs typeface="Roboto" pitchFamily="34" charset="-120"/>
              </a:rPr>
              <a:t>ML Algorithm Application:</a:t>
            </a:r>
            <a:r>
              <a:rPr lang="en-US" sz="1200" dirty="0">
                <a:solidFill>
                  <a:srgbClr val="E5E0DF"/>
                </a:solidFill>
                <a:latin typeface="Roboto" pitchFamily="34" charset="0"/>
                <a:ea typeface="Roboto" pitchFamily="34" charset="-122"/>
                <a:cs typeface="Roboto" pitchFamily="34" charset="-120"/>
              </a:rPr>
              <a:t> Implemented and evaluated various classification algorithms</a:t>
            </a:r>
            <a:r>
              <a:rPr lang="en-US" sz="1100" dirty="0">
                <a:solidFill>
                  <a:srgbClr val="E5E0DF"/>
                </a:solidFill>
                <a:latin typeface="Roboto" pitchFamily="34" charset="0"/>
                <a:ea typeface="Roboto" pitchFamily="34" charset="-122"/>
                <a:cs typeface="Roboto" pitchFamily="34" charset="-120"/>
              </a:rPr>
              <a:t>.</a:t>
            </a:r>
            <a:endParaRPr lang="en-US" sz="1100" dirty="0"/>
          </a:p>
        </p:txBody>
      </p:sp>
      <p:pic>
        <p:nvPicPr>
          <p:cNvPr id="14"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3162" y="7852043"/>
            <a:ext cx="212050" cy="212050"/>
          </a:xfrm>
          <a:prstGeom prst="rect">
            <a:avLst/>
          </a:prstGeom>
        </p:spPr>
      </p:pic>
      <p:sp>
        <p:nvSpPr>
          <p:cNvPr id="15" name="Text 8"/>
          <p:cNvSpPr/>
          <p:nvPr/>
        </p:nvSpPr>
        <p:spPr>
          <a:xfrm>
            <a:off x="7863007" y="7844958"/>
            <a:ext cx="6272570" cy="226219"/>
          </a:xfrm>
          <a:prstGeom prst="rect">
            <a:avLst/>
          </a:prstGeom>
          <a:noFill/>
          <a:ln/>
        </p:spPr>
        <p:txBody>
          <a:bodyPr wrap="none" lIns="0" tIns="0" rIns="0" bIns="0" rtlCol="0" anchor="t"/>
          <a:lstStyle/>
          <a:p>
            <a:pPr marL="0" indent="0" algn="l">
              <a:lnSpc>
                <a:spcPts val="1750"/>
              </a:lnSpc>
              <a:buNone/>
            </a:pPr>
            <a:r>
              <a:rPr lang="en-US" sz="1200" b="1" dirty="0">
                <a:solidFill>
                  <a:srgbClr val="E5E0DF"/>
                </a:solidFill>
                <a:latin typeface="Roboto" pitchFamily="34" charset="0"/>
                <a:ea typeface="Roboto" pitchFamily="34" charset="-122"/>
                <a:cs typeface="Roboto" pitchFamily="34" charset="-120"/>
              </a:rPr>
              <a:t>Model Design:</a:t>
            </a:r>
            <a:r>
              <a:rPr lang="en-US" sz="1200" dirty="0">
                <a:solidFill>
                  <a:srgbClr val="E5E0DF"/>
                </a:solidFill>
                <a:latin typeface="Roboto" pitchFamily="34" charset="0"/>
                <a:ea typeface="Roboto" pitchFamily="34" charset="-122"/>
                <a:cs typeface="Roboto" pitchFamily="34" charset="-120"/>
              </a:rPr>
              <a:t> Developed an improved framework based on the best-performing algorithm.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546663"/>
          </a:xfrm>
          <a:prstGeom prst="rect">
            <a:avLst/>
          </a:prstGeom>
        </p:spPr>
      </p:pic>
      <p:sp>
        <p:nvSpPr>
          <p:cNvPr id="3" name="Text 0"/>
          <p:cNvSpPr/>
          <p:nvPr/>
        </p:nvSpPr>
        <p:spPr>
          <a:xfrm>
            <a:off x="607457" y="477202"/>
            <a:ext cx="7929086" cy="1084659"/>
          </a:xfrm>
          <a:prstGeom prst="rect">
            <a:avLst/>
          </a:prstGeom>
          <a:noFill/>
          <a:ln/>
        </p:spPr>
        <p:txBody>
          <a:bodyPr wrap="square" lIns="0" tIns="0" rIns="0" bIns="0" rtlCol="0" anchor="t"/>
          <a:lstStyle/>
          <a:p>
            <a:pPr marL="0" indent="0" algn="l">
              <a:lnSpc>
                <a:spcPts val="4250"/>
              </a:lnSpc>
              <a:buNone/>
            </a:pPr>
            <a:r>
              <a:rPr lang="en-US" sz="3400" dirty="0">
                <a:solidFill>
                  <a:srgbClr val="FFFFFF"/>
                </a:solidFill>
                <a:latin typeface="Roboto Mono Medium" pitchFamily="34" charset="0"/>
                <a:ea typeface="Roboto Mono Medium" pitchFamily="34" charset="-122"/>
                <a:cs typeface="Roboto Mono Medium" pitchFamily="34" charset="-120"/>
              </a:rPr>
              <a:t>Understanding Consumer Behavior</a:t>
            </a:r>
            <a:endParaRPr lang="en-US" sz="3400" dirty="0"/>
          </a:p>
        </p:txBody>
      </p:sp>
      <p:sp>
        <p:nvSpPr>
          <p:cNvPr id="4" name="Text 1"/>
          <p:cNvSpPr/>
          <p:nvPr/>
        </p:nvSpPr>
        <p:spPr>
          <a:xfrm>
            <a:off x="607457" y="1822132"/>
            <a:ext cx="7929086" cy="555308"/>
          </a:xfrm>
          <a:prstGeom prst="rect">
            <a:avLst/>
          </a:prstGeom>
          <a:noFill/>
          <a:ln/>
        </p:spPr>
        <p:txBody>
          <a:bodyPr wrap="squar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Consumer behavior encompasses the entire purchasing journey, from initial product discovery to final acquisition. This complex process is influenced by a multitude of factors.</a:t>
            </a:r>
            <a:endParaRPr lang="en-US" sz="1350" dirty="0"/>
          </a:p>
        </p:txBody>
      </p:sp>
      <p:sp>
        <p:nvSpPr>
          <p:cNvPr id="8" name="Text 4"/>
          <p:cNvSpPr/>
          <p:nvPr/>
        </p:nvSpPr>
        <p:spPr>
          <a:xfrm>
            <a:off x="6888034" y="2959892"/>
            <a:ext cx="1460764" cy="439401"/>
          </a:xfrm>
          <a:prstGeom prst="rect">
            <a:avLst/>
          </a:prstGeom>
          <a:noFill/>
          <a:ln/>
        </p:spPr>
        <p:txBody>
          <a:bodyPr wrap="square" lIns="0" tIns="0" rIns="0" bIns="0" rtlCol="0" anchor="t"/>
          <a:lstStyle/>
          <a:p>
            <a:pPr marL="0" indent="0" algn="l">
              <a:lnSpc>
                <a:spcPts val="1650"/>
              </a:lnSpc>
              <a:buNone/>
            </a:pPr>
            <a:endParaRPr lang="en-US" sz="1350" dirty="0"/>
          </a:p>
        </p:txBody>
      </p:sp>
      <p:sp>
        <p:nvSpPr>
          <p:cNvPr id="9" name="Text 5"/>
          <p:cNvSpPr/>
          <p:nvPr/>
        </p:nvSpPr>
        <p:spPr>
          <a:xfrm>
            <a:off x="6888034" y="3461786"/>
            <a:ext cx="1460764" cy="351521"/>
          </a:xfrm>
          <a:prstGeom prst="rect">
            <a:avLst/>
          </a:prstGeom>
          <a:noFill/>
          <a:ln/>
        </p:spPr>
        <p:txBody>
          <a:bodyPr wrap="square" lIns="0" tIns="0" rIns="0" bIns="0" rtlCol="0" anchor="t"/>
          <a:lstStyle/>
          <a:p>
            <a:pPr marL="0" indent="0" algn="l">
              <a:lnSpc>
                <a:spcPts val="1350"/>
              </a:lnSpc>
              <a:buNone/>
            </a:pPr>
            <a:endParaRPr lang="en-US" sz="1050" dirty="0"/>
          </a:p>
        </p:txBody>
      </p:sp>
      <p:sp>
        <p:nvSpPr>
          <p:cNvPr id="12" name="Text 8"/>
          <p:cNvSpPr/>
          <p:nvPr/>
        </p:nvSpPr>
        <p:spPr>
          <a:xfrm>
            <a:off x="6841164" y="6005429"/>
            <a:ext cx="1507634" cy="219701"/>
          </a:xfrm>
          <a:prstGeom prst="rect">
            <a:avLst/>
          </a:prstGeom>
          <a:noFill/>
          <a:ln/>
        </p:spPr>
        <p:txBody>
          <a:bodyPr wrap="none" lIns="0" tIns="0" rIns="0" bIns="0" rtlCol="0" anchor="t"/>
          <a:lstStyle/>
          <a:p>
            <a:pPr marL="0" indent="0" algn="l">
              <a:lnSpc>
                <a:spcPts val="1650"/>
              </a:lnSpc>
              <a:buNone/>
            </a:pPr>
            <a:endParaRPr lang="en-US" sz="1350" dirty="0"/>
          </a:p>
        </p:txBody>
      </p:sp>
      <p:sp>
        <p:nvSpPr>
          <p:cNvPr id="13" name="Text 9"/>
          <p:cNvSpPr/>
          <p:nvPr/>
        </p:nvSpPr>
        <p:spPr>
          <a:xfrm>
            <a:off x="6841164" y="6287622"/>
            <a:ext cx="1507634" cy="351521"/>
          </a:xfrm>
          <a:prstGeom prst="rect">
            <a:avLst/>
          </a:prstGeom>
          <a:noFill/>
          <a:ln/>
        </p:spPr>
        <p:txBody>
          <a:bodyPr wrap="square" lIns="0" tIns="0" rIns="0" bIns="0" rtlCol="0" anchor="t"/>
          <a:lstStyle/>
          <a:p>
            <a:pPr marL="0" indent="0" algn="l">
              <a:lnSpc>
                <a:spcPts val="1350"/>
              </a:lnSpc>
              <a:buNone/>
            </a:pPr>
            <a:endParaRPr lang="en-US" sz="1050" dirty="0"/>
          </a:p>
        </p:txBody>
      </p:sp>
      <p:sp>
        <p:nvSpPr>
          <p:cNvPr id="14" name="Text 10"/>
          <p:cNvSpPr/>
          <p:nvPr/>
        </p:nvSpPr>
        <p:spPr>
          <a:xfrm>
            <a:off x="607457" y="7236500"/>
            <a:ext cx="7929086" cy="832961"/>
          </a:xfrm>
          <a:prstGeom prst="rect">
            <a:avLst/>
          </a:prstGeom>
          <a:noFill/>
          <a:ln/>
        </p:spPr>
        <p:txBody>
          <a:bodyPr wrap="squar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To gain a holistic view, combining operational data (O-data: finance, sales) with experience data (X-data: customer satisfaction, NPS) is essential. This integration provides a deeper understanding of growth drivers and future purchasing patterns.</a:t>
            </a:r>
            <a:endParaRPr lang="en-US" sz="1350" dirty="0"/>
          </a:p>
        </p:txBody>
      </p:sp>
      <p:pic>
        <p:nvPicPr>
          <p:cNvPr id="16" name="Picture 15">
            <a:extLst>
              <a:ext uri="{FF2B5EF4-FFF2-40B4-BE49-F238E27FC236}">
                <a16:creationId xmlns:a16="http://schemas.microsoft.com/office/drawing/2014/main" id="{34145B71-2710-CAF3-07A2-17A80CD55DCD}"/>
              </a:ext>
            </a:extLst>
          </p:cNvPr>
          <p:cNvPicPr>
            <a:picLocks noChangeAspect="1"/>
          </p:cNvPicPr>
          <p:nvPr/>
        </p:nvPicPr>
        <p:blipFill>
          <a:blip r:embed="rId4"/>
          <a:stretch>
            <a:fillRect/>
          </a:stretch>
        </p:blipFill>
        <p:spPr>
          <a:xfrm>
            <a:off x="2284504" y="2959892"/>
            <a:ext cx="4603530" cy="3664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33361" y="961073"/>
            <a:ext cx="8045410" cy="399098"/>
          </a:xfrm>
          <a:prstGeom prst="rect">
            <a:avLst/>
          </a:prstGeom>
          <a:noFill/>
          <a:ln/>
        </p:spPr>
        <p:txBody>
          <a:bodyPr wrap="none" lIns="0" tIns="0" rIns="0" bIns="0" rtlCol="0" anchor="t"/>
          <a:lstStyle/>
          <a:p>
            <a:pPr marL="0" indent="0" algn="l">
              <a:lnSpc>
                <a:spcPts val="3100"/>
              </a:lnSpc>
              <a:buNone/>
            </a:pPr>
            <a:r>
              <a:rPr lang="en-US" sz="2500" dirty="0">
                <a:solidFill>
                  <a:srgbClr val="FFFFFF"/>
                </a:solidFill>
                <a:latin typeface="Roboto Mono Medium" pitchFamily="34" charset="0"/>
                <a:ea typeface="Roboto Mono Medium" pitchFamily="34" charset="-122"/>
                <a:cs typeface="Roboto Mono Medium" pitchFamily="34" charset="-120"/>
              </a:rPr>
              <a:t>Strategic Benefits of Predictive Analytics</a:t>
            </a:r>
            <a:endParaRPr lang="en-US" sz="2500" dirty="0"/>
          </a:p>
        </p:txBody>
      </p:sp>
      <p:sp>
        <p:nvSpPr>
          <p:cNvPr id="4" name="Text 1"/>
          <p:cNvSpPr/>
          <p:nvPr/>
        </p:nvSpPr>
        <p:spPr>
          <a:xfrm>
            <a:off x="5933361" y="1551742"/>
            <a:ext cx="8250079" cy="204311"/>
          </a:xfrm>
          <a:prstGeom prst="rect">
            <a:avLst/>
          </a:prstGeom>
          <a:noFill/>
          <a:ln/>
        </p:spPr>
        <p:txBody>
          <a:bodyPr wrap="none" lIns="0" tIns="0" rIns="0" bIns="0" rtlCol="0" anchor="t"/>
          <a:lstStyle/>
          <a:p>
            <a:pPr marL="0" indent="0" algn="l">
              <a:lnSpc>
                <a:spcPts val="1600"/>
              </a:lnSpc>
              <a:buNone/>
            </a:pPr>
            <a:r>
              <a:rPr lang="en-US" sz="1000" dirty="0">
                <a:solidFill>
                  <a:srgbClr val="E5E0DF"/>
                </a:solidFill>
                <a:latin typeface="Roboto" pitchFamily="34" charset="0"/>
                <a:ea typeface="Roboto" pitchFamily="34" charset="-122"/>
                <a:cs typeface="Roboto" pitchFamily="34" charset="-120"/>
              </a:rPr>
              <a:t>Predicting consumer behavior allows businesses to implement proactive strategies, significantly impacting growth and profitability.</a:t>
            </a:r>
            <a:endParaRPr lang="en-US" sz="1000" dirty="0"/>
          </a:p>
        </p:txBody>
      </p:sp>
      <p:sp>
        <p:nvSpPr>
          <p:cNvPr id="5" name="Shape 2"/>
          <p:cNvSpPr/>
          <p:nvPr/>
        </p:nvSpPr>
        <p:spPr>
          <a:xfrm>
            <a:off x="5933361" y="1899642"/>
            <a:ext cx="8250079" cy="1246465"/>
          </a:xfrm>
          <a:prstGeom prst="roundRect">
            <a:avLst>
              <a:gd name="adj" fmla="val 1537"/>
            </a:avLst>
          </a:prstGeom>
          <a:solidFill>
            <a:srgbClr val="404040"/>
          </a:solidFill>
          <a:ln/>
        </p:spPr>
      </p:sp>
      <p:sp>
        <p:nvSpPr>
          <p:cNvPr id="6" name="Shape 3"/>
          <p:cNvSpPr/>
          <p:nvPr/>
        </p:nvSpPr>
        <p:spPr>
          <a:xfrm>
            <a:off x="6060996" y="2027277"/>
            <a:ext cx="383143" cy="383143"/>
          </a:xfrm>
          <a:prstGeom prst="roundRect">
            <a:avLst>
              <a:gd name="adj" fmla="val 23863376"/>
            </a:avLst>
          </a:prstGeom>
          <a:solidFill>
            <a:srgbClr val="DCFF50"/>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6366" y="2132648"/>
            <a:ext cx="172403" cy="172403"/>
          </a:xfrm>
          <a:prstGeom prst="rect">
            <a:avLst/>
          </a:prstGeom>
        </p:spPr>
      </p:pic>
      <p:sp>
        <p:nvSpPr>
          <p:cNvPr id="8" name="Text 4"/>
          <p:cNvSpPr/>
          <p:nvPr/>
        </p:nvSpPr>
        <p:spPr>
          <a:xfrm>
            <a:off x="6060996" y="2538055"/>
            <a:ext cx="2202180" cy="199549"/>
          </a:xfrm>
          <a:prstGeom prst="rect">
            <a:avLst/>
          </a:prstGeom>
          <a:noFill/>
          <a:ln/>
        </p:spPr>
        <p:txBody>
          <a:bodyPr wrap="none" lIns="0" tIns="0" rIns="0" bIns="0" rtlCol="0" anchor="t"/>
          <a:lstStyle/>
          <a:p>
            <a:pPr marL="0" indent="0" algn="l">
              <a:lnSpc>
                <a:spcPts val="1550"/>
              </a:lnSpc>
              <a:buNone/>
            </a:pPr>
            <a:r>
              <a:rPr lang="en-US" sz="1250" dirty="0">
                <a:solidFill>
                  <a:srgbClr val="E5E0DF"/>
                </a:solidFill>
                <a:latin typeface="Roboto Mono Medium" pitchFamily="34" charset="0"/>
                <a:ea typeface="Roboto Mono Medium" pitchFamily="34" charset="-122"/>
                <a:cs typeface="Roboto Mono Medium" pitchFamily="34" charset="-120"/>
              </a:rPr>
              <a:t>Decrease Consumer Churn</a:t>
            </a:r>
            <a:endParaRPr lang="en-US" sz="1250" dirty="0"/>
          </a:p>
        </p:txBody>
      </p:sp>
      <p:sp>
        <p:nvSpPr>
          <p:cNvPr id="9" name="Text 5"/>
          <p:cNvSpPr/>
          <p:nvPr/>
        </p:nvSpPr>
        <p:spPr>
          <a:xfrm>
            <a:off x="6060996" y="2814161"/>
            <a:ext cx="7994809" cy="204311"/>
          </a:xfrm>
          <a:prstGeom prst="rect">
            <a:avLst/>
          </a:prstGeom>
          <a:noFill/>
          <a:ln/>
        </p:spPr>
        <p:txBody>
          <a:bodyPr wrap="none" lIns="0" tIns="0" rIns="0" bIns="0" rtlCol="0" anchor="t"/>
          <a:lstStyle/>
          <a:p>
            <a:pPr marL="0" indent="0" algn="l">
              <a:lnSpc>
                <a:spcPts val="1600"/>
              </a:lnSpc>
              <a:buNone/>
            </a:pPr>
            <a:r>
              <a:rPr lang="en-US" sz="1000" dirty="0">
                <a:solidFill>
                  <a:srgbClr val="E5E0DF"/>
                </a:solidFill>
                <a:latin typeface="Roboto" pitchFamily="34" charset="0"/>
                <a:ea typeface="Roboto" pitchFamily="34" charset="-122"/>
                <a:cs typeface="Roboto" pitchFamily="34" charset="-120"/>
              </a:rPr>
              <a:t>Identify potential churn risks and implement retention strategies, which is more cost-effective than acquiring new customers.</a:t>
            </a:r>
            <a:endParaRPr lang="en-US" sz="1000" dirty="0"/>
          </a:p>
        </p:txBody>
      </p:sp>
      <p:sp>
        <p:nvSpPr>
          <p:cNvPr id="10" name="Shape 6"/>
          <p:cNvSpPr/>
          <p:nvPr/>
        </p:nvSpPr>
        <p:spPr>
          <a:xfrm>
            <a:off x="5933361" y="3273743"/>
            <a:ext cx="8250079" cy="1246465"/>
          </a:xfrm>
          <a:prstGeom prst="roundRect">
            <a:avLst>
              <a:gd name="adj" fmla="val 1537"/>
            </a:avLst>
          </a:prstGeom>
          <a:solidFill>
            <a:srgbClr val="404040"/>
          </a:solidFill>
          <a:ln/>
        </p:spPr>
      </p:sp>
      <p:sp>
        <p:nvSpPr>
          <p:cNvPr id="11" name="Shape 7"/>
          <p:cNvSpPr/>
          <p:nvPr/>
        </p:nvSpPr>
        <p:spPr>
          <a:xfrm>
            <a:off x="6060996" y="3401378"/>
            <a:ext cx="383143" cy="383143"/>
          </a:xfrm>
          <a:prstGeom prst="roundRect">
            <a:avLst>
              <a:gd name="adj" fmla="val 23863376"/>
            </a:avLst>
          </a:prstGeom>
          <a:solidFill>
            <a:srgbClr val="DCFF50"/>
          </a:solidFill>
          <a:ln/>
        </p:spPr>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66366" y="3506748"/>
            <a:ext cx="172403" cy="172403"/>
          </a:xfrm>
          <a:prstGeom prst="rect">
            <a:avLst/>
          </a:prstGeom>
        </p:spPr>
      </p:pic>
      <p:sp>
        <p:nvSpPr>
          <p:cNvPr id="13" name="Text 8"/>
          <p:cNvSpPr/>
          <p:nvPr/>
        </p:nvSpPr>
        <p:spPr>
          <a:xfrm>
            <a:off x="6060996" y="3912156"/>
            <a:ext cx="2489359" cy="199549"/>
          </a:xfrm>
          <a:prstGeom prst="rect">
            <a:avLst/>
          </a:prstGeom>
          <a:noFill/>
          <a:ln/>
        </p:spPr>
        <p:txBody>
          <a:bodyPr wrap="none" lIns="0" tIns="0" rIns="0" bIns="0" rtlCol="0" anchor="t"/>
          <a:lstStyle/>
          <a:p>
            <a:pPr marL="0" indent="0" algn="l">
              <a:lnSpc>
                <a:spcPts val="1550"/>
              </a:lnSpc>
              <a:buNone/>
            </a:pPr>
            <a:r>
              <a:rPr lang="en-US" sz="1250" dirty="0">
                <a:solidFill>
                  <a:srgbClr val="E5E0DF"/>
                </a:solidFill>
                <a:latin typeface="Roboto Mono Medium" pitchFamily="34" charset="0"/>
                <a:ea typeface="Roboto Mono Medium" pitchFamily="34" charset="-122"/>
                <a:cs typeface="Roboto Mono Medium" pitchFamily="34" charset="-120"/>
              </a:rPr>
              <a:t>Improve Consumer Retention</a:t>
            </a:r>
            <a:endParaRPr lang="en-US" sz="1250" dirty="0"/>
          </a:p>
        </p:txBody>
      </p:sp>
      <p:sp>
        <p:nvSpPr>
          <p:cNvPr id="14" name="Text 9"/>
          <p:cNvSpPr/>
          <p:nvPr/>
        </p:nvSpPr>
        <p:spPr>
          <a:xfrm>
            <a:off x="6060996" y="4188262"/>
            <a:ext cx="7994809" cy="204311"/>
          </a:xfrm>
          <a:prstGeom prst="rect">
            <a:avLst/>
          </a:prstGeom>
          <a:noFill/>
          <a:ln/>
        </p:spPr>
        <p:txBody>
          <a:bodyPr wrap="none" lIns="0" tIns="0" rIns="0" bIns="0" rtlCol="0" anchor="t"/>
          <a:lstStyle/>
          <a:p>
            <a:pPr marL="0" indent="0" algn="l">
              <a:lnSpc>
                <a:spcPts val="1600"/>
              </a:lnSpc>
              <a:buNone/>
            </a:pPr>
            <a:r>
              <a:rPr lang="en-US" sz="1000" dirty="0">
                <a:solidFill>
                  <a:srgbClr val="E5E0DF"/>
                </a:solidFill>
                <a:latin typeface="Roboto" pitchFamily="34" charset="0"/>
                <a:ea typeface="Roboto" pitchFamily="34" charset="-122"/>
                <a:cs typeface="Roboto" pitchFamily="34" charset="-120"/>
              </a:rPr>
              <a:t>Predict which customers are likely to stay or leave, enabling targeted actions to retain valuable clients.</a:t>
            </a:r>
            <a:endParaRPr lang="en-US" sz="1000" dirty="0"/>
          </a:p>
        </p:txBody>
      </p:sp>
      <p:sp>
        <p:nvSpPr>
          <p:cNvPr id="15" name="Shape 10"/>
          <p:cNvSpPr/>
          <p:nvPr/>
        </p:nvSpPr>
        <p:spPr>
          <a:xfrm>
            <a:off x="5933361" y="4647843"/>
            <a:ext cx="8250079" cy="1246465"/>
          </a:xfrm>
          <a:prstGeom prst="roundRect">
            <a:avLst>
              <a:gd name="adj" fmla="val 1537"/>
            </a:avLst>
          </a:prstGeom>
          <a:solidFill>
            <a:srgbClr val="404040"/>
          </a:solidFill>
          <a:ln/>
        </p:spPr>
      </p:sp>
      <p:sp>
        <p:nvSpPr>
          <p:cNvPr id="16" name="Shape 11"/>
          <p:cNvSpPr/>
          <p:nvPr/>
        </p:nvSpPr>
        <p:spPr>
          <a:xfrm>
            <a:off x="6060996" y="4775478"/>
            <a:ext cx="383143" cy="383143"/>
          </a:xfrm>
          <a:prstGeom prst="roundRect">
            <a:avLst>
              <a:gd name="adj" fmla="val 23863376"/>
            </a:avLst>
          </a:prstGeom>
          <a:solidFill>
            <a:srgbClr val="DCFF50"/>
          </a:solidFill>
          <a:ln/>
        </p:spPr>
      </p:sp>
      <p:pic>
        <p:nvPicPr>
          <p:cNvPr id="17"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66366" y="4880848"/>
            <a:ext cx="172403" cy="172403"/>
          </a:xfrm>
          <a:prstGeom prst="rect">
            <a:avLst/>
          </a:prstGeom>
        </p:spPr>
      </p:pic>
      <p:sp>
        <p:nvSpPr>
          <p:cNvPr id="18" name="Text 12"/>
          <p:cNvSpPr/>
          <p:nvPr/>
        </p:nvSpPr>
        <p:spPr>
          <a:xfrm>
            <a:off x="6060996" y="5286256"/>
            <a:ext cx="2872264" cy="199549"/>
          </a:xfrm>
          <a:prstGeom prst="rect">
            <a:avLst/>
          </a:prstGeom>
          <a:noFill/>
          <a:ln/>
        </p:spPr>
        <p:txBody>
          <a:bodyPr wrap="none" lIns="0" tIns="0" rIns="0" bIns="0" rtlCol="0" anchor="t"/>
          <a:lstStyle/>
          <a:p>
            <a:pPr marL="0" indent="0" algn="l">
              <a:lnSpc>
                <a:spcPts val="1550"/>
              </a:lnSpc>
              <a:buNone/>
            </a:pPr>
            <a:r>
              <a:rPr lang="en-US" sz="1250" dirty="0">
                <a:solidFill>
                  <a:srgbClr val="E5E0DF"/>
                </a:solidFill>
                <a:latin typeface="Roboto Mono Medium" pitchFamily="34" charset="0"/>
                <a:ea typeface="Roboto Mono Medium" pitchFamily="34" charset="-122"/>
                <a:cs typeface="Roboto Mono Medium" pitchFamily="34" charset="-120"/>
              </a:rPr>
              <a:t>Enhanced Customer Satisfaction</a:t>
            </a:r>
            <a:endParaRPr lang="en-US" sz="1250" dirty="0"/>
          </a:p>
        </p:txBody>
      </p:sp>
      <p:sp>
        <p:nvSpPr>
          <p:cNvPr id="19" name="Text 13"/>
          <p:cNvSpPr/>
          <p:nvPr/>
        </p:nvSpPr>
        <p:spPr>
          <a:xfrm>
            <a:off x="6060996" y="5562362"/>
            <a:ext cx="7994809" cy="204311"/>
          </a:xfrm>
          <a:prstGeom prst="rect">
            <a:avLst/>
          </a:prstGeom>
          <a:noFill/>
          <a:ln/>
        </p:spPr>
        <p:txBody>
          <a:bodyPr wrap="none" lIns="0" tIns="0" rIns="0" bIns="0" rtlCol="0" anchor="t"/>
          <a:lstStyle/>
          <a:p>
            <a:pPr marL="0" indent="0" algn="l">
              <a:lnSpc>
                <a:spcPts val="1600"/>
              </a:lnSpc>
              <a:buNone/>
            </a:pPr>
            <a:r>
              <a:rPr lang="en-US" sz="1000" dirty="0">
                <a:solidFill>
                  <a:srgbClr val="E5E0DF"/>
                </a:solidFill>
                <a:latin typeface="Roboto" pitchFamily="34" charset="0"/>
                <a:ea typeface="Roboto" pitchFamily="34" charset="-122"/>
                <a:cs typeface="Roboto" pitchFamily="34" charset="-120"/>
              </a:rPr>
              <a:t>Understand demands and interests to create more tailored experiences, fostering loyalty and positive word-of-mouth.</a:t>
            </a:r>
            <a:endParaRPr lang="en-US" sz="1000" dirty="0"/>
          </a:p>
        </p:txBody>
      </p:sp>
      <p:sp>
        <p:nvSpPr>
          <p:cNvPr id="20" name="Shape 14"/>
          <p:cNvSpPr/>
          <p:nvPr/>
        </p:nvSpPr>
        <p:spPr>
          <a:xfrm>
            <a:off x="5933361" y="6021943"/>
            <a:ext cx="8250079" cy="1246465"/>
          </a:xfrm>
          <a:prstGeom prst="roundRect">
            <a:avLst>
              <a:gd name="adj" fmla="val 1537"/>
            </a:avLst>
          </a:prstGeom>
          <a:solidFill>
            <a:srgbClr val="404040"/>
          </a:solidFill>
          <a:ln/>
        </p:spPr>
      </p:sp>
      <p:sp>
        <p:nvSpPr>
          <p:cNvPr id="21" name="Shape 15"/>
          <p:cNvSpPr/>
          <p:nvPr/>
        </p:nvSpPr>
        <p:spPr>
          <a:xfrm>
            <a:off x="6060996" y="6149578"/>
            <a:ext cx="383143" cy="383143"/>
          </a:xfrm>
          <a:prstGeom prst="roundRect">
            <a:avLst>
              <a:gd name="adj" fmla="val 23863376"/>
            </a:avLst>
          </a:prstGeom>
          <a:solidFill>
            <a:srgbClr val="DCFF50"/>
          </a:solidFill>
          <a:ln/>
        </p:spPr>
      </p:sp>
      <p:pic>
        <p:nvPicPr>
          <p:cNvPr id="22"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66366" y="6254948"/>
            <a:ext cx="172403" cy="172403"/>
          </a:xfrm>
          <a:prstGeom prst="rect">
            <a:avLst/>
          </a:prstGeom>
        </p:spPr>
      </p:pic>
      <p:sp>
        <p:nvSpPr>
          <p:cNvPr id="23" name="Text 16"/>
          <p:cNvSpPr/>
          <p:nvPr/>
        </p:nvSpPr>
        <p:spPr>
          <a:xfrm>
            <a:off x="6060996" y="6660356"/>
            <a:ext cx="2489359" cy="199549"/>
          </a:xfrm>
          <a:prstGeom prst="rect">
            <a:avLst/>
          </a:prstGeom>
          <a:noFill/>
          <a:ln/>
        </p:spPr>
        <p:txBody>
          <a:bodyPr wrap="none" lIns="0" tIns="0" rIns="0" bIns="0" rtlCol="0" anchor="t"/>
          <a:lstStyle/>
          <a:p>
            <a:pPr marL="0" indent="0" algn="l">
              <a:lnSpc>
                <a:spcPts val="1550"/>
              </a:lnSpc>
              <a:buNone/>
            </a:pPr>
            <a:r>
              <a:rPr lang="en-US" sz="1250" dirty="0">
                <a:solidFill>
                  <a:srgbClr val="E5E0DF"/>
                </a:solidFill>
                <a:latin typeface="Roboto Mono Medium" pitchFamily="34" charset="0"/>
                <a:ea typeface="Roboto Mono Medium" pitchFamily="34" charset="-122"/>
                <a:cs typeface="Roboto Mono Medium" pitchFamily="34" charset="-120"/>
              </a:rPr>
              <a:t>Boost Customer Involvement</a:t>
            </a:r>
            <a:endParaRPr lang="en-US" sz="1250" dirty="0"/>
          </a:p>
        </p:txBody>
      </p:sp>
      <p:sp>
        <p:nvSpPr>
          <p:cNvPr id="24" name="Text 17"/>
          <p:cNvSpPr/>
          <p:nvPr/>
        </p:nvSpPr>
        <p:spPr>
          <a:xfrm>
            <a:off x="6060996" y="6936462"/>
            <a:ext cx="7994809" cy="204311"/>
          </a:xfrm>
          <a:prstGeom prst="rect">
            <a:avLst/>
          </a:prstGeom>
          <a:noFill/>
          <a:ln/>
        </p:spPr>
        <p:txBody>
          <a:bodyPr wrap="none" lIns="0" tIns="0" rIns="0" bIns="0" rtlCol="0" anchor="t"/>
          <a:lstStyle/>
          <a:p>
            <a:pPr marL="0" indent="0" algn="l">
              <a:lnSpc>
                <a:spcPts val="1600"/>
              </a:lnSpc>
              <a:buNone/>
            </a:pPr>
            <a:r>
              <a:rPr lang="en-US" sz="1000" dirty="0">
                <a:solidFill>
                  <a:srgbClr val="E5E0DF"/>
                </a:solidFill>
                <a:latin typeface="Roboto" pitchFamily="34" charset="0"/>
                <a:ea typeface="Roboto" pitchFamily="34" charset="-122"/>
                <a:cs typeface="Roboto" pitchFamily="34" charset="-120"/>
              </a:rPr>
              <a:t>Leverage user experience data (surveys, social media) to identify motivations and map them to business outcomes like sales and NPS.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453199"/>
          </a:xfrm>
          <a:prstGeom prst="rect">
            <a:avLst/>
          </a:prstGeom>
        </p:spPr>
      </p:pic>
      <p:sp>
        <p:nvSpPr>
          <p:cNvPr id="3" name="Text 0"/>
          <p:cNvSpPr/>
          <p:nvPr/>
        </p:nvSpPr>
        <p:spPr>
          <a:xfrm>
            <a:off x="601980" y="473035"/>
            <a:ext cx="7940040" cy="1075134"/>
          </a:xfrm>
          <a:prstGeom prst="rect">
            <a:avLst/>
          </a:prstGeom>
          <a:noFill/>
          <a:ln/>
        </p:spPr>
        <p:txBody>
          <a:bodyPr wrap="square" lIns="0" tIns="0" rIns="0" bIns="0" rtlCol="0" anchor="t"/>
          <a:lstStyle/>
          <a:p>
            <a:pPr marL="0" indent="0" algn="l">
              <a:lnSpc>
                <a:spcPts val="4200"/>
              </a:lnSpc>
              <a:buNone/>
            </a:pPr>
            <a:r>
              <a:rPr lang="en-US" sz="3350" dirty="0">
                <a:solidFill>
                  <a:srgbClr val="FFFFFF"/>
                </a:solidFill>
                <a:latin typeface="Roboto Mono Medium" pitchFamily="34" charset="0"/>
                <a:ea typeface="Roboto Mono Medium" pitchFamily="34" charset="-122"/>
                <a:cs typeface="Roboto Mono Medium" pitchFamily="34" charset="-120"/>
              </a:rPr>
              <a:t>Methodology: Data-Driven Insights</a:t>
            </a:r>
            <a:endParaRPr lang="en-US" sz="3350" dirty="0"/>
          </a:p>
        </p:txBody>
      </p:sp>
      <p:sp>
        <p:nvSpPr>
          <p:cNvPr id="4" name="Text 1"/>
          <p:cNvSpPr/>
          <p:nvPr/>
        </p:nvSpPr>
        <p:spPr>
          <a:xfrm>
            <a:off x="601980" y="1806178"/>
            <a:ext cx="7940040" cy="550545"/>
          </a:xfrm>
          <a:prstGeom prst="rect">
            <a:avLst/>
          </a:prstGeom>
          <a:noFill/>
          <a:ln/>
        </p:spPr>
        <p:txBody>
          <a:bodyPr wrap="squar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Our proposed methodology systematically analyzes online shopper data to build robust predictive models.</a:t>
            </a:r>
            <a:endParaRPr lang="en-US" sz="1350" dirty="0"/>
          </a:p>
        </p:txBody>
      </p:sp>
      <p:pic>
        <p:nvPicPr>
          <p:cNvPr id="5" name="Image 1" descr="preencoded.png"/>
          <p:cNvPicPr>
            <a:picLocks noChangeAspect="1"/>
          </p:cNvPicPr>
          <p:nvPr/>
        </p:nvPicPr>
        <p:blipFill>
          <a:blip r:embed="rId4"/>
          <a:stretch>
            <a:fillRect/>
          </a:stretch>
        </p:blipFill>
        <p:spPr>
          <a:xfrm>
            <a:off x="601980" y="2550200"/>
            <a:ext cx="7940040" cy="3423880"/>
          </a:xfrm>
          <a:prstGeom prst="rect">
            <a:avLst/>
          </a:prstGeom>
        </p:spPr>
      </p:pic>
      <p:sp>
        <p:nvSpPr>
          <p:cNvPr id="6" name="Text 2"/>
          <p:cNvSpPr/>
          <p:nvPr/>
        </p:nvSpPr>
        <p:spPr>
          <a:xfrm>
            <a:off x="1136310" y="5324784"/>
            <a:ext cx="1801302" cy="225163"/>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Performance Eval</a:t>
            </a:r>
            <a:endParaRPr lang="en-US" sz="1350" dirty="0"/>
          </a:p>
        </p:txBody>
      </p:sp>
      <p:sp>
        <p:nvSpPr>
          <p:cNvPr id="7" name="Text 3"/>
          <p:cNvSpPr/>
          <p:nvPr/>
        </p:nvSpPr>
        <p:spPr>
          <a:xfrm>
            <a:off x="1136310" y="4532211"/>
            <a:ext cx="2053860" cy="225163"/>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Algorithm Selection</a:t>
            </a:r>
            <a:endParaRPr lang="en-US" sz="1350" dirty="0"/>
          </a:p>
        </p:txBody>
      </p:sp>
      <p:sp>
        <p:nvSpPr>
          <p:cNvPr id="8" name="Text 4"/>
          <p:cNvSpPr/>
          <p:nvPr/>
        </p:nvSpPr>
        <p:spPr>
          <a:xfrm>
            <a:off x="1136310" y="3747644"/>
            <a:ext cx="2161938" cy="225163"/>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Exploratory Analysis</a:t>
            </a:r>
            <a:endParaRPr lang="en-US" sz="1350" dirty="0"/>
          </a:p>
        </p:txBody>
      </p:sp>
      <p:sp>
        <p:nvSpPr>
          <p:cNvPr id="9" name="Text 5"/>
          <p:cNvSpPr/>
          <p:nvPr/>
        </p:nvSpPr>
        <p:spPr>
          <a:xfrm>
            <a:off x="1136310" y="2955071"/>
            <a:ext cx="1801302" cy="225163"/>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Pre-processing</a:t>
            </a:r>
            <a:endParaRPr lang="en-US" sz="1350" dirty="0"/>
          </a:p>
        </p:txBody>
      </p:sp>
      <p:sp>
        <p:nvSpPr>
          <p:cNvPr id="10" name="Text 6"/>
          <p:cNvSpPr/>
          <p:nvPr/>
        </p:nvSpPr>
        <p:spPr>
          <a:xfrm>
            <a:off x="601980" y="6232088"/>
            <a:ext cx="2192536" cy="268724"/>
          </a:xfrm>
          <a:prstGeom prst="rect">
            <a:avLst/>
          </a:prstGeom>
          <a:noFill/>
          <a:ln/>
        </p:spPr>
        <p:txBody>
          <a:bodyPr wrap="none" lIns="0" tIns="0" rIns="0" bIns="0" rtlCol="0" anchor="t"/>
          <a:lstStyle/>
          <a:p>
            <a:pPr marL="0" indent="0" algn="l">
              <a:lnSpc>
                <a:spcPts val="2100"/>
              </a:lnSpc>
              <a:buNone/>
            </a:pPr>
            <a:r>
              <a:rPr lang="en-US" sz="1650" dirty="0">
                <a:solidFill>
                  <a:srgbClr val="FFFFFF"/>
                </a:solidFill>
                <a:latin typeface="Roboto Mono Medium" pitchFamily="34" charset="0"/>
                <a:ea typeface="Roboto Mono Medium" pitchFamily="34" charset="-122"/>
                <a:cs typeface="Roboto Mono Medium" pitchFamily="34" charset="-120"/>
              </a:rPr>
              <a:t>Dataset Overview:</a:t>
            </a:r>
            <a:endParaRPr lang="en-US" sz="1650" dirty="0"/>
          </a:p>
        </p:txBody>
      </p:sp>
      <p:sp>
        <p:nvSpPr>
          <p:cNvPr id="11" name="Text 7"/>
          <p:cNvSpPr/>
          <p:nvPr/>
        </p:nvSpPr>
        <p:spPr>
          <a:xfrm>
            <a:off x="601980" y="6758821"/>
            <a:ext cx="7940040" cy="275273"/>
          </a:xfrm>
          <a:prstGeom prst="rect">
            <a:avLst/>
          </a:prstGeom>
          <a:noFill/>
          <a:ln/>
        </p:spPr>
        <p:txBody>
          <a:bodyPr wrap="none" lIns="0" tIns="0" rIns="0" bIns="0" rtlCol="0" anchor="t"/>
          <a:lstStyle/>
          <a:p>
            <a:pPr marL="342900" indent="-342900" algn="l">
              <a:lnSpc>
                <a:spcPts val="2150"/>
              </a:lnSpc>
              <a:buSzPct val="100000"/>
              <a:buChar char="•"/>
            </a:pPr>
            <a:r>
              <a:rPr lang="en-US" sz="1350" b="1" dirty="0">
                <a:solidFill>
                  <a:srgbClr val="E5E0DF"/>
                </a:solidFill>
                <a:latin typeface="Roboto" pitchFamily="34" charset="0"/>
                <a:ea typeface="Roboto" pitchFamily="34" charset="-122"/>
                <a:cs typeface="Roboto" pitchFamily="34" charset="-120"/>
              </a:rPr>
              <a:t>Source:</a:t>
            </a:r>
            <a:r>
              <a:rPr lang="en-US" sz="1350" dirty="0">
                <a:solidFill>
                  <a:srgbClr val="E5E0DF"/>
                </a:solidFill>
                <a:latin typeface="Roboto" pitchFamily="34" charset="0"/>
                <a:ea typeface="Roboto" pitchFamily="34" charset="-122"/>
                <a:cs typeface="Roboto" pitchFamily="34" charset="-120"/>
              </a:rPr>
              <a:t> UCI Online Shoppers' Intention dataset.</a:t>
            </a:r>
            <a:endParaRPr lang="en-US" sz="1350" dirty="0"/>
          </a:p>
        </p:txBody>
      </p:sp>
      <p:sp>
        <p:nvSpPr>
          <p:cNvPr id="12" name="Text 8"/>
          <p:cNvSpPr/>
          <p:nvPr/>
        </p:nvSpPr>
        <p:spPr>
          <a:xfrm>
            <a:off x="601980" y="7094220"/>
            <a:ext cx="7940040" cy="275273"/>
          </a:xfrm>
          <a:prstGeom prst="rect">
            <a:avLst/>
          </a:prstGeom>
          <a:noFill/>
          <a:ln/>
        </p:spPr>
        <p:txBody>
          <a:bodyPr wrap="none" lIns="0" tIns="0" rIns="0" bIns="0" rtlCol="0" anchor="t"/>
          <a:lstStyle/>
          <a:p>
            <a:pPr marL="342900" indent="-342900" algn="l">
              <a:lnSpc>
                <a:spcPts val="2150"/>
              </a:lnSpc>
              <a:buSzPct val="100000"/>
              <a:buChar char="•"/>
            </a:pPr>
            <a:r>
              <a:rPr lang="en-US" sz="1350" b="1" dirty="0">
                <a:solidFill>
                  <a:srgbClr val="E5E0DF"/>
                </a:solidFill>
                <a:latin typeface="Roboto" pitchFamily="34" charset="0"/>
                <a:ea typeface="Roboto" pitchFamily="34" charset="-122"/>
                <a:cs typeface="Roboto" pitchFamily="34" charset="-120"/>
              </a:rPr>
              <a:t>Features:</a:t>
            </a:r>
            <a:r>
              <a:rPr lang="en-US" sz="1350" dirty="0">
                <a:solidFill>
                  <a:srgbClr val="E5E0DF"/>
                </a:solidFill>
                <a:latin typeface="Roboto" pitchFamily="34" charset="0"/>
                <a:ea typeface="Roboto" pitchFamily="34" charset="-122"/>
                <a:cs typeface="Roboto" pitchFamily="34" charset="-120"/>
              </a:rPr>
              <a:t> 18 attributes (categorical &amp; numerical) from 12,330 user sessions over one year.</a:t>
            </a:r>
            <a:endParaRPr lang="en-US" sz="1350" dirty="0"/>
          </a:p>
        </p:txBody>
      </p:sp>
      <p:sp>
        <p:nvSpPr>
          <p:cNvPr id="13" name="Text 9"/>
          <p:cNvSpPr/>
          <p:nvPr/>
        </p:nvSpPr>
        <p:spPr>
          <a:xfrm>
            <a:off x="601980" y="7429619"/>
            <a:ext cx="7940040" cy="550545"/>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E5E0DF"/>
                </a:solidFill>
                <a:latin typeface="Roboto" pitchFamily="34" charset="0"/>
                <a:ea typeface="Roboto" pitchFamily="34" charset="-122"/>
                <a:cs typeface="Roboto" pitchFamily="34" charset="-120"/>
              </a:rPr>
              <a:t>Skewed Data:</a:t>
            </a:r>
            <a:r>
              <a:rPr lang="en-US" sz="1350" dirty="0">
                <a:solidFill>
                  <a:srgbClr val="E5E0DF"/>
                </a:solidFill>
                <a:latin typeface="Roboto" pitchFamily="34" charset="0"/>
                <a:ea typeface="Roboto" pitchFamily="34" charset="-122"/>
                <a:cs typeface="Roboto" pitchFamily="34" charset="-120"/>
              </a:rPr>
              <a:t> Approximately 85% negative samples (no transaction) and 15% positive samples (transaction completed).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11825"/>
            <a:ext cx="6632019"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Roboto Mono Medium" pitchFamily="34" charset="0"/>
                <a:ea typeface="Roboto Mono Medium" pitchFamily="34" charset="-122"/>
                <a:cs typeface="Roboto Mono Medium" pitchFamily="34" charset="-120"/>
              </a:rPr>
              <a:t>Exploratory Data Analysis: Key Findings</a:t>
            </a:r>
            <a:endParaRPr lang="en-US" sz="2200" dirty="0"/>
          </a:p>
        </p:txBody>
      </p:sp>
      <p:sp>
        <p:nvSpPr>
          <p:cNvPr id="3" name="Text 1"/>
          <p:cNvSpPr/>
          <p:nvPr/>
        </p:nvSpPr>
        <p:spPr>
          <a:xfrm>
            <a:off x="396835" y="892969"/>
            <a:ext cx="13836729" cy="181451"/>
          </a:xfrm>
          <a:prstGeom prst="rect">
            <a:avLst/>
          </a:prstGeom>
          <a:noFill/>
          <a:ln/>
        </p:spPr>
        <p:txBody>
          <a:bodyPr wrap="none" lIns="0" tIns="0" rIns="0" bIns="0" rtlCol="0" anchor="t"/>
          <a:lstStyle/>
          <a:p>
            <a:pPr marL="0" indent="0" algn="l">
              <a:lnSpc>
                <a:spcPts val="1400"/>
              </a:lnSpc>
              <a:buNone/>
            </a:pPr>
            <a:r>
              <a:rPr lang="en-US" dirty="0">
                <a:solidFill>
                  <a:srgbClr val="E5E0DF"/>
                </a:solidFill>
                <a:latin typeface="Roboto" pitchFamily="34" charset="0"/>
                <a:ea typeface="Roboto" pitchFamily="34" charset="-122"/>
                <a:cs typeface="Roboto" pitchFamily="34" charset="-120"/>
              </a:rPr>
              <a:t>Initial analysis revealed several critical insights into user behavior and website engagement metrics.</a:t>
            </a:r>
            <a:endParaRPr lang="en-US" dirty="0"/>
          </a:p>
        </p:txBody>
      </p:sp>
      <p:sp>
        <p:nvSpPr>
          <p:cNvPr id="4" name="Text 2"/>
          <p:cNvSpPr/>
          <p:nvPr/>
        </p:nvSpPr>
        <p:spPr>
          <a:xfrm>
            <a:off x="396835" y="1315283"/>
            <a:ext cx="2210753" cy="177165"/>
          </a:xfrm>
          <a:prstGeom prst="rect">
            <a:avLst/>
          </a:prstGeom>
          <a:noFill/>
          <a:ln/>
        </p:spPr>
        <p:txBody>
          <a:bodyPr wrap="none" lIns="0" tIns="0" rIns="0" bIns="0" rtlCol="0" anchor="t"/>
          <a:lstStyle/>
          <a:p>
            <a:pPr marL="0" indent="0" algn="l">
              <a:lnSpc>
                <a:spcPts val="1350"/>
              </a:lnSpc>
              <a:buNone/>
            </a:pPr>
            <a:r>
              <a:rPr lang="en-US" sz="1400" dirty="0">
                <a:solidFill>
                  <a:srgbClr val="FFFFFF"/>
                </a:solidFill>
                <a:latin typeface="Roboto Mono Medium" pitchFamily="34" charset="0"/>
                <a:ea typeface="Roboto Mono Medium" pitchFamily="34" charset="-122"/>
                <a:cs typeface="Roboto Mono Medium" pitchFamily="34" charset="-120"/>
              </a:rPr>
              <a:t>Correlation Among Factors:</a:t>
            </a:r>
            <a:endParaRPr lang="en-US" sz="1400" dirty="0"/>
          </a:p>
        </p:txBody>
      </p:sp>
      <p:sp>
        <p:nvSpPr>
          <p:cNvPr id="7" name="Text 4"/>
          <p:cNvSpPr/>
          <p:nvPr/>
        </p:nvSpPr>
        <p:spPr>
          <a:xfrm>
            <a:off x="8903305" y="1385734"/>
            <a:ext cx="2210753" cy="177165"/>
          </a:xfrm>
          <a:prstGeom prst="rect">
            <a:avLst/>
          </a:prstGeom>
          <a:noFill/>
          <a:ln/>
        </p:spPr>
        <p:txBody>
          <a:bodyPr wrap="none" lIns="0" tIns="0" rIns="0" bIns="0" rtlCol="0" anchor="t"/>
          <a:lstStyle/>
          <a:p>
            <a:pPr marL="0" indent="0" algn="l">
              <a:lnSpc>
                <a:spcPts val="1350"/>
              </a:lnSpc>
              <a:buNone/>
            </a:pPr>
            <a:r>
              <a:rPr lang="en-US" sz="1400" dirty="0">
                <a:solidFill>
                  <a:srgbClr val="FFFFFF"/>
                </a:solidFill>
                <a:latin typeface="Roboto Mono Medium" pitchFamily="34" charset="0"/>
                <a:ea typeface="Roboto Mono Medium" pitchFamily="34" charset="-122"/>
                <a:cs typeface="Roboto Mono Medium" pitchFamily="34" charset="-120"/>
              </a:rPr>
              <a:t>Page Metrics Distribution:</a:t>
            </a:r>
            <a:endParaRPr lang="en-US" sz="1400" dirty="0"/>
          </a:p>
        </p:txBody>
      </p:sp>
      <p:pic>
        <p:nvPicPr>
          <p:cNvPr id="8" name="Image 1" descr="preencoded.png"/>
          <p:cNvPicPr>
            <a:picLocks noChangeAspect="1"/>
          </p:cNvPicPr>
          <p:nvPr/>
        </p:nvPicPr>
        <p:blipFill>
          <a:blip r:embed="rId3"/>
          <a:stretch>
            <a:fillRect/>
          </a:stretch>
        </p:blipFill>
        <p:spPr>
          <a:xfrm>
            <a:off x="8903305" y="2006560"/>
            <a:ext cx="4182074" cy="2225040"/>
          </a:xfrm>
          <a:prstGeom prst="rect">
            <a:avLst/>
          </a:prstGeom>
        </p:spPr>
      </p:pic>
      <p:pic>
        <p:nvPicPr>
          <p:cNvPr id="9" name="Image 2" descr="preencoded.png"/>
          <p:cNvPicPr>
            <a:picLocks noChangeAspect="1"/>
          </p:cNvPicPr>
          <p:nvPr/>
        </p:nvPicPr>
        <p:blipFill>
          <a:blip r:embed="rId4"/>
          <a:srcRect l="3829" t="22335" r="3672" b="21430"/>
          <a:stretch>
            <a:fillRect/>
          </a:stretch>
        </p:blipFill>
        <p:spPr>
          <a:xfrm>
            <a:off x="8493999" y="4538168"/>
            <a:ext cx="4997669" cy="1783495"/>
          </a:xfrm>
          <a:prstGeom prst="rect">
            <a:avLst/>
          </a:prstGeom>
        </p:spPr>
      </p:pic>
      <p:sp>
        <p:nvSpPr>
          <p:cNvPr id="10" name="Text 5"/>
          <p:cNvSpPr/>
          <p:nvPr/>
        </p:nvSpPr>
        <p:spPr>
          <a:xfrm>
            <a:off x="7461171" y="10880050"/>
            <a:ext cx="6780014" cy="362903"/>
          </a:xfrm>
          <a:prstGeom prst="rect">
            <a:avLst/>
          </a:prstGeom>
          <a:noFill/>
          <a:ln/>
        </p:spPr>
        <p:txBody>
          <a:bodyPr wrap="square" lIns="0" tIns="0" rIns="0" bIns="0" rtlCol="0" anchor="t"/>
          <a:lstStyle/>
          <a:p>
            <a:pPr marL="0" indent="0" algn="l">
              <a:lnSpc>
                <a:spcPts val="1400"/>
              </a:lnSpc>
              <a:buNone/>
            </a:pPr>
            <a:r>
              <a:rPr lang="en-US" sz="850" dirty="0">
                <a:solidFill>
                  <a:srgbClr val="E5E0DF"/>
                </a:solidFill>
                <a:latin typeface="Roboto" pitchFamily="34" charset="0"/>
                <a:ea typeface="Roboto" pitchFamily="34" charset="-122"/>
                <a:cs typeface="Roboto" pitchFamily="34" charset="-120"/>
              </a:rPr>
              <a:t>Bounce-rate and page-values exhibit highly skewed distributions, indicating most users have low bounce rates and page values, signifying engagement.</a:t>
            </a:r>
            <a:endParaRPr lang="en-US" sz="850" dirty="0"/>
          </a:p>
        </p:txBody>
      </p:sp>
      <p:sp>
        <p:nvSpPr>
          <p:cNvPr id="11" name="Text 6"/>
          <p:cNvSpPr/>
          <p:nvPr/>
        </p:nvSpPr>
        <p:spPr>
          <a:xfrm>
            <a:off x="396835" y="11472505"/>
            <a:ext cx="13836729" cy="181451"/>
          </a:xfrm>
          <a:prstGeom prst="rect">
            <a:avLst/>
          </a:prstGeom>
          <a:noFill/>
          <a:ln/>
        </p:spPr>
        <p:txBody>
          <a:bodyPr wrap="none" lIns="0" tIns="0" rIns="0" bIns="0" rtlCol="0" anchor="t"/>
          <a:lstStyle/>
          <a:p>
            <a:pPr marL="0" indent="0" algn="l">
              <a:lnSpc>
                <a:spcPts val="1400"/>
              </a:lnSpc>
              <a:buNone/>
            </a:pPr>
            <a:r>
              <a:rPr lang="en-US" sz="850" dirty="0">
                <a:solidFill>
                  <a:srgbClr val="E5E0DF"/>
                </a:solidFill>
                <a:latin typeface="Roboto" pitchFamily="34" charset="0"/>
                <a:ea typeface="Roboto" pitchFamily="34" charset="-122"/>
                <a:cs typeface="Roboto" pitchFamily="34" charset="-120"/>
              </a:rPr>
              <a:t>Visitors spend more time on product-related pages than administrative or informational ones, and purchase likelihood increases with time spent on product pages, as shown in Figures 4-9.</a:t>
            </a:r>
            <a:endParaRPr lang="en-US" sz="850" dirty="0"/>
          </a:p>
        </p:txBody>
      </p:sp>
      <p:pic>
        <p:nvPicPr>
          <p:cNvPr id="13" name="Picture 12">
            <a:extLst>
              <a:ext uri="{FF2B5EF4-FFF2-40B4-BE49-F238E27FC236}">
                <a16:creationId xmlns:a16="http://schemas.microsoft.com/office/drawing/2014/main" id="{1CCD2403-7FF3-2DDF-AC2E-4FD73F1547BD}"/>
              </a:ext>
            </a:extLst>
          </p:cNvPr>
          <p:cNvPicPr>
            <a:picLocks noChangeAspect="1"/>
          </p:cNvPicPr>
          <p:nvPr/>
        </p:nvPicPr>
        <p:blipFill>
          <a:blip r:embed="rId5"/>
          <a:srcRect r="20314"/>
          <a:stretch>
            <a:fillRect/>
          </a:stretch>
        </p:blipFill>
        <p:spPr>
          <a:xfrm>
            <a:off x="248840" y="1864722"/>
            <a:ext cx="7262158" cy="5123793"/>
          </a:xfrm>
          <a:prstGeom prst="rect">
            <a:avLst/>
          </a:prstGeom>
        </p:spPr>
      </p:pic>
      <p:sp>
        <p:nvSpPr>
          <p:cNvPr id="15" name="TextBox 14">
            <a:extLst>
              <a:ext uri="{FF2B5EF4-FFF2-40B4-BE49-F238E27FC236}">
                <a16:creationId xmlns:a16="http://schemas.microsoft.com/office/drawing/2014/main" id="{9ED885B8-B169-82CB-B659-09A098FA19E3}"/>
              </a:ext>
            </a:extLst>
          </p:cNvPr>
          <p:cNvSpPr txBox="1"/>
          <p:nvPr/>
        </p:nvSpPr>
        <p:spPr>
          <a:xfrm>
            <a:off x="248839" y="7114561"/>
            <a:ext cx="7262159" cy="1015663"/>
          </a:xfrm>
          <a:prstGeom prst="rect">
            <a:avLst/>
          </a:prstGeom>
          <a:noFill/>
        </p:spPr>
        <p:txBody>
          <a:bodyPr wrap="square">
            <a:spAutoFit/>
          </a:bodyPr>
          <a:lstStyle/>
          <a:p>
            <a:pPr>
              <a:buNone/>
            </a:pPr>
            <a:r>
              <a:rPr lang="en-US" sz="2000" dirty="0">
                <a:solidFill>
                  <a:schemeClr val="tx2">
                    <a:lumMod val="20000"/>
                    <a:lumOff val="80000"/>
                  </a:schemeClr>
                </a:solidFill>
              </a:rPr>
              <a:t>Visitors spend more time on product-related pages than administrative or informational ones, and purchase likelihood increases with time spent on product pages, as shown in Figures 4-9.</a:t>
            </a:r>
          </a:p>
        </p:txBody>
      </p:sp>
      <p:sp>
        <p:nvSpPr>
          <p:cNvPr id="17" name="TextBox 16">
            <a:extLst>
              <a:ext uri="{FF2B5EF4-FFF2-40B4-BE49-F238E27FC236}">
                <a16:creationId xmlns:a16="http://schemas.microsoft.com/office/drawing/2014/main" id="{8BC26E80-9735-C446-CD40-3C9C6B02C1C7}"/>
              </a:ext>
            </a:extLst>
          </p:cNvPr>
          <p:cNvSpPr txBox="1"/>
          <p:nvPr/>
        </p:nvSpPr>
        <p:spPr>
          <a:xfrm>
            <a:off x="8493999" y="6422063"/>
            <a:ext cx="4997669" cy="1200329"/>
          </a:xfrm>
          <a:prstGeom prst="rect">
            <a:avLst/>
          </a:prstGeom>
          <a:noFill/>
        </p:spPr>
        <p:txBody>
          <a:bodyPr wrap="square">
            <a:spAutoFit/>
          </a:bodyPr>
          <a:lstStyle/>
          <a:p>
            <a:pPr>
              <a:buNone/>
            </a:pPr>
            <a:r>
              <a:rPr lang="en-US" dirty="0">
                <a:solidFill>
                  <a:schemeClr val="bg2">
                    <a:lumMod val="90000"/>
                  </a:schemeClr>
                </a:solidFill>
              </a:rPr>
              <a:t>Bounce-rate and page-values exhibit highly skewed distributions, indicating most users have low bounce rates and page values, signifying engagement.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2822" y="551498"/>
            <a:ext cx="12108537" cy="600670"/>
          </a:xfrm>
          <a:prstGeom prst="rect">
            <a:avLst/>
          </a:prstGeom>
          <a:noFill/>
          <a:ln/>
        </p:spPr>
        <p:txBody>
          <a:bodyPr wrap="none" lIns="0" tIns="0" rIns="0" bIns="0" rtlCol="0" anchor="t"/>
          <a:lstStyle/>
          <a:p>
            <a:pPr marL="0" indent="0" algn="l">
              <a:lnSpc>
                <a:spcPts val="4700"/>
              </a:lnSpc>
              <a:buNone/>
            </a:pPr>
            <a:r>
              <a:rPr lang="en-US" sz="3750" dirty="0">
                <a:solidFill>
                  <a:srgbClr val="FFFFFF"/>
                </a:solidFill>
                <a:latin typeface="Roboto Mono Medium" pitchFamily="34" charset="0"/>
                <a:ea typeface="Roboto Mono Medium" pitchFamily="34" charset="-122"/>
                <a:cs typeface="Roboto Mono Medium" pitchFamily="34" charset="-120"/>
              </a:rPr>
              <a:t>Visitor Segmentation and Temporal Patterns</a:t>
            </a:r>
            <a:endParaRPr lang="en-US" sz="3750" dirty="0"/>
          </a:p>
        </p:txBody>
      </p:sp>
      <p:sp>
        <p:nvSpPr>
          <p:cNvPr id="3" name="Text 1"/>
          <p:cNvSpPr/>
          <p:nvPr/>
        </p:nvSpPr>
        <p:spPr>
          <a:xfrm>
            <a:off x="672822" y="1536621"/>
            <a:ext cx="13284756" cy="307658"/>
          </a:xfrm>
          <a:prstGeom prst="rect">
            <a:avLst/>
          </a:prstGeom>
          <a:noFill/>
          <a:ln/>
        </p:spPr>
        <p:txBody>
          <a:bodyPr wrap="none" lIns="0" tIns="0" rIns="0" bIns="0" rtlCol="0" anchor="t"/>
          <a:lstStyle/>
          <a:p>
            <a:pPr marL="0" indent="0" algn="l">
              <a:lnSpc>
                <a:spcPts val="2400"/>
              </a:lnSpc>
              <a:buNone/>
            </a:pPr>
            <a:r>
              <a:rPr lang="en-US" sz="1600" dirty="0">
                <a:solidFill>
                  <a:srgbClr val="E5E0DF"/>
                </a:solidFill>
                <a:latin typeface="Roboto" pitchFamily="34" charset="0"/>
                <a:ea typeface="Roboto" pitchFamily="34" charset="-122"/>
                <a:cs typeface="Roboto" pitchFamily="34" charset="-120"/>
              </a:rPr>
              <a:t>Analyzing visitors by device, region, traffic source, and time provides actionable insights for targeted strategies.</a:t>
            </a:r>
            <a:endParaRPr lang="en-US" sz="1600" dirty="0"/>
          </a:p>
        </p:txBody>
      </p:sp>
      <p:sp>
        <p:nvSpPr>
          <p:cNvPr id="4" name="Text 2"/>
          <p:cNvSpPr/>
          <p:nvPr/>
        </p:nvSpPr>
        <p:spPr>
          <a:xfrm>
            <a:off x="672822" y="2252663"/>
            <a:ext cx="3314700" cy="300276"/>
          </a:xfrm>
          <a:prstGeom prst="rect">
            <a:avLst/>
          </a:prstGeom>
          <a:noFill/>
          <a:ln/>
        </p:spPr>
        <p:txBody>
          <a:bodyPr wrap="none" lIns="0" tIns="0" rIns="0" bIns="0" rtlCol="0" anchor="t"/>
          <a:lstStyle/>
          <a:p>
            <a:pPr marL="0" indent="0" algn="l">
              <a:lnSpc>
                <a:spcPts val="2350"/>
              </a:lnSpc>
              <a:buNone/>
            </a:pPr>
            <a:r>
              <a:rPr lang="en-US" sz="1850" dirty="0">
                <a:solidFill>
                  <a:srgbClr val="FFFFFF"/>
                </a:solidFill>
                <a:latin typeface="Roboto Mono Medium" pitchFamily="34" charset="0"/>
                <a:ea typeface="Roboto Mono Medium" pitchFamily="34" charset="-122"/>
                <a:cs typeface="Roboto Mono Medium" pitchFamily="34" charset="-120"/>
              </a:rPr>
              <a:t>Operating System Usage:</a:t>
            </a:r>
            <a:endParaRPr lang="en-US" sz="1850" dirty="0"/>
          </a:p>
        </p:txBody>
      </p:sp>
      <p:pic>
        <p:nvPicPr>
          <p:cNvPr id="5" name="Image 0" descr="preencoded.png"/>
          <p:cNvPicPr>
            <a:picLocks noChangeAspect="1"/>
          </p:cNvPicPr>
          <p:nvPr/>
        </p:nvPicPr>
        <p:blipFill>
          <a:blip r:embed="rId3"/>
          <a:stretch>
            <a:fillRect/>
          </a:stretch>
        </p:blipFill>
        <p:spPr>
          <a:xfrm>
            <a:off x="672822" y="2769156"/>
            <a:ext cx="3314700" cy="3451860"/>
          </a:xfrm>
          <a:prstGeom prst="rect">
            <a:avLst/>
          </a:prstGeom>
        </p:spPr>
      </p:pic>
      <p:sp>
        <p:nvSpPr>
          <p:cNvPr id="6" name="Text 3"/>
          <p:cNvSpPr/>
          <p:nvPr/>
        </p:nvSpPr>
        <p:spPr>
          <a:xfrm>
            <a:off x="672822" y="6437233"/>
            <a:ext cx="4115157" cy="922973"/>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Operating System Category 2 is dominant, highlighting the need for UI compatibility across diverse platforms.</a:t>
            </a:r>
            <a:endParaRPr lang="en-US" sz="1500" dirty="0"/>
          </a:p>
        </p:txBody>
      </p:sp>
      <p:sp>
        <p:nvSpPr>
          <p:cNvPr id="7" name="Text 4"/>
          <p:cNvSpPr/>
          <p:nvPr/>
        </p:nvSpPr>
        <p:spPr>
          <a:xfrm>
            <a:off x="5264468" y="2252663"/>
            <a:ext cx="4035266" cy="300276"/>
          </a:xfrm>
          <a:prstGeom prst="rect">
            <a:avLst/>
          </a:prstGeom>
          <a:noFill/>
          <a:ln/>
        </p:spPr>
        <p:txBody>
          <a:bodyPr wrap="none" lIns="0" tIns="0" rIns="0" bIns="0" rtlCol="0" anchor="t"/>
          <a:lstStyle/>
          <a:p>
            <a:pPr marL="0" indent="0" algn="l">
              <a:lnSpc>
                <a:spcPts val="2350"/>
              </a:lnSpc>
              <a:buNone/>
            </a:pPr>
            <a:r>
              <a:rPr lang="en-US" sz="1850" dirty="0">
                <a:solidFill>
                  <a:srgbClr val="FFFFFF"/>
                </a:solidFill>
                <a:latin typeface="Roboto Mono Medium" pitchFamily="34" charset="0"/>
                <a:ea typeface="Roboto Mono Medium" pitchFamily="34" charset="-122"/>
                <a:cs typeface="Roboto Mono Medium" pitchFamily="34" charset="-120"/>
              </a:rPr>
              <a:t>Regional &amp; Traffic Analysis:</a:t>
            </a:r>
            <a:endParaRPr lang="en-US" sz="1850" dirty="0"/>
          </a:p>
        </p:txBody>
      </p:sp>
      <p:pic>
        <p:nvPicPr>
          <p:cNvPr id="8" name="Image 1" descr="preencoded.png"/>
          <p:cNvPicPr>
            <a:picLocks noChangeAspect="1"/>
          </p:cNvPicPr>
          <p:nvPr/>
        </p:nvPicPr>
        <p:blipFill>
          <a:blip r:embed="rId4"/>
          <a:stretch>
            <a:fillRect/>
          </a:stretch>
        </p:blipFill>
        <p:spPr>
          <a:xfrm>
            <a:off x="5264467" y="2769156"/>
            <a:ext cx="4115157" cy="3596640"/>
          </a:xfrm>
          <a:prstGeom prst="rect">
            <a:avLst/>
          </a:prstGeom>
        </p:spPr>
      </p:pic>
      <p:sp>
        <p:nvSpPr>
          <p:cNvPr id="9" name="Text 5"/>
          <p:cNvSpPr/>
          <p:nvPr/>
        </p:nvSpPr>
        <p:spPr>
          <a:xfrm>
            <a:off x="5264468" y="6582013"/>
            <a:ext cx="4115157" cy="922973"/>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Region Category 1 shows the highest customer involvement, suggesting targeted marketing efforts for other regions.</a:t>
            </a:r>
            <a:endParaRPr lang="en-US" sz="1500" dirty="0"/>
          </a:p>
        </p:txBody>
      </p:sp>
      <p:sp>
        <p:nvSpPr>
          <p:cNvPr id="10" name="Text 6"/>
          <p:cNvSpPr/>
          <p:nvPr/>
        </p:nvSpPr>
        <p:spPr>
          <a:xfrm>
            <a:off x="9856113" y="2252663"/>
            <a:ext cx="4115157" cy="600551"/>
          </a:xfrm>
          <a:prstGeom prst="rect">
            <a:avLst/>
          </a:prstGeom>
          <a:noFill/>
          <a:ln/>
        </p:spPr>
        <p:txBody>
          <a:bodyPr wrap="square" lIns="0" tIns="0" rIns="0" bIns="0" rtlCol="0" anchor="t"/>
          <a:lstStyle/>
          <a:p>
            <a:pPr marL="0" indent="0" algn="l">
              <a:lnSpc>
                <a:spcPts val="2350"/>
              </a:lnSpc>
              <a:buNone/>
            </a:pPr>
            <a:r>
              <a:rPr lang="en-US" sz="1850" dirty="0">
                <a:solidFill>
                  <a:srgbClr val="FFFFFF"/>
                </a:solidFill>
                <a:latin typeface="Roboto Mono Medium" pitchFamily="34" charset="0"/>
                <a:ea typeface="Roboto Mono Medium" pitchFamily="34" charset="-122"/>
                <a:cs typeface="Roboto Mono Medium" pitchFamily="34" charset="-120"/>
              </a:rPr>
              <a:t>Revenue by Month &amp; Special Days:</a:t>
            </a:r>
            <a:endParaRPr lang="en-US" sz="1850" dirty="0"/>
          </a:p>
        </p:txBody>
      </p:sp>
      <p:pic>
        <p:nvPicPr>
          <p:cNvPr id="11" name="Image 2" descr="preencoded.png"/>
          <p:cNvPicPr>
            <a:picLocks noChangeAspect="1"/>
          </p:cNvPicPr>
          <p:nvPr/>
        </p:nvPicPr>
        <p:blipFill>
          <a:blip r:embed="rId5"/>
          <a:stretch>
            <a:fillRect/>
          </a:stretch>
        </p:blipFill>
        <p:spPr>
          <a:xfrm>
            <a:off x="9856112" y="3069431"/>
            <a:ext cx="3844121" cy="3078480"/>
          </a:xfrm>
          <a:prstGeom prst="rect">
            <a:avLst/>
          </a:prstGeom>
        </p:spPr>
      </p:pic>
      <p:sp>
        <p:nvSpPr>
          <p:cNvPr id="12" name="Text 7"/>
          <p:cNvSpPr/>
          <p:nvPr/>
        </p:nvSpPr>
        <p:spPr>
          <a:xfrm>
            <a:off x="9856113" y="6364129"/>
            <a:ext cx="4115157" cy="922973"/>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Significant transactions occur towards year-end (November, December), and near special days, emphasizing seasonal strategy importance.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5909" y="791289"/>
            <a:ext cx="12206764" cy="540901"/>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Roboto Mono Medium" pitchFamily="34" charset="0"/>
                <a:ea typeface="Roboto Mono Medium" pitchFamily="34" charset="-122"/>
                <a:cs typeface="Roboto Mono Medium" pitchFamily="34" charset="-120"/>
              </a:rPr>
              <a:t>Comparative Analysis of Machine Learning Models</a:t>
            </a:r>
            <a:endParaRPr lang="en-US" sz="3400" dirty="0"/>
          </a:p>
        </p:txBody>
      </p:sp>
      <p:sp>
        <p:nvSpPr>
          <p:cNvPr id="3" name="Text 1"/>
          <p:cNvSpPr/>
          <p:nvPr/>
        </p:nvSpPr>
        <p:spPr>
          <a:xfrm>
            <a:off x="605909" y="1678424"/>
            <a:ext cx="13418582" cy="276939"/>
          </a:xfrm>
          <a:prstGeom prst="rect">
            <a:avLst/>
          </a:prstGeom>
          <a:noFill/>
          <a:ln/>
        </p:spPr>
        <p:txBody>
          <a:bodyPr wrap="none" lIns="0" tIns="0" rIns="0" bIns="0" rtlCol="0" anchor="t"/>
          <a:lstStyle/>
          <a:p>
            <a:pPr marL="0" indent="0" algn="l">
              <a:lnSpc>
                <a:spcPts val="2150"/>
              </a:lnSpc>
              <a:buNone/>
            </a:pPr>
            <a:r>
              <a:rPr lang="en-US" dirty="0">
                <a:solidFill>
                  <a:srgbClr val="E5E0DF"/>
                </a:solidFill>
                <a:latin typeface="Roboto" pitchFamily="34" charset="0"/>
                <a:ea typeface="Roboto" pitchFamily="34" charset="-122"/>
                <a:cs typeface="Roboto" pitchFamily="34" charset="-120"/>
              </a:rPr>
              <a:t>Seven distinct classification algorithms were evaluated to determine the most effective predictor of online shopper behavior.</a:t>
            </a:r>
            <a:endParaRPr lang="en-US" dirty="0"/>
          </a:p>
        </p:txBody>
      </p:sp>
      <p:sp>
        <p:nvSpPr>
          <p:cNvPr id="4" name="Shape 2"/>
          <p:cNvSpPr/>
          <p:nvPr/>
        </p:nvSpPr>
        <p:spPr>
          <a:xfrm>
            <a:off x="547320" y="2005072"/>
            <a:ext cx="13535760" cy="3654087"/>
          </a:xfrm>
          <a:prstGeom prst="roundRect">
            <a:avLst>
              <a:gd name="adj" fmla="val 862"/>
            </a:avLst>
          </a:prstGeom>
          <a:noFill/>
          <a:ln w="7620">
            <a:solidFill>
              <a:srgbClr val="FFFFFF">
                <a:alpha val="24000"/>
              </a:srgbClr>
            </a:solidFill>
            <a:prstDash val="solid"/>
          </a:ln>
        </p:spPr>
      </p:sp>
      <p:sp>
        <p:nvSpPr>
          <p:cNvPr id="5" name="Shape 3"/>
          <p:cNvSpPr/>
          <p:nvPr/>
        </p:nvSpPr>
        <p:spPr>
          <a:xfrm>
            <a:off x="613529" y="2157651"/>
            <a:ext cx="13403342" cy="499824"/>
          </a:xfrm>
          <a:prstGeom prst="rect">
            <a:avLst/>
          </a:prstGeom>
          <a:solidFill>
            <a:srgbClr val="FFFFFF">
              <a:alpha val="4000"/>
            </a:srgbClr>
          </a:solidFill>
          <a:ln/>
        </p:spPr>
        <p:txBody>
          <a:bodyPr/>
          <a:lstStyle/>
          <a:p>
            <a:endParaRPr lang="en-US" dirty="0"/>
          </a:p>
        </p:txBody>
      </p:sp>
      <p:sp>
        <p:nvSpPr>
          <p:cNvPr id="6" name="Text 4"/>
          <p:cNvSpPr/>
          <p:nvPr/>
        </p:nvSpPr>
        <p:spPr>
          <a:xfrm>
            <a:off x="787241" y="2269093"/>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Model</a:t>
            </a:r>
            <a:endParaRPr lang="en-US" sz="1600" dirty="0"/>
          </a:p>
        </p:txBody>
      </p:sp>
      <p:sp>
        <p:nvSpPr>
          <p:cNvPr id="7" name="Text 5"/>
          <p:cNvSpPr/>
          <p:nvPr/>
        </p:nvSpPr>
        <p:spPr>
          <a:xfrm>
            <a:off x="3471624" y="2269093"/>
            <a:ext cx="1790581"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Accuracy</a:t>
            </a:r>
            <a:endParaRPr lang="en-US" sz="1600" dirty="0"/>
          </a:p>
        </p:txBody>
      </p:sp>
      <p:sp>
        <p:nvSpPr>
          <p:cNvPr id="8" name="Text 6"/>
          <p:cNvSpPr/>
          <p:nvPr/>
        </p:nvSpPr>
        <p:spPr>
          <a:xfrm>
            <a:off x="5616059" y="2269093"/>
            <a:ext cx="1790581"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Precision</a:t>
            </a:r>
            <a:endParaRPr lang="en-US" sz="1600" dirty="0"/>
          </a:p>
        </p:txBody>
      </p:sp>
      <p:sp>
        <p:nvSpPr>
          <p:cNvPr id="9" name="Text 7"/>
          <p:cNvSpPr/>
          <p:nvPr/>
        </p:nvSpPr>
        <p:spPr>
          <a:xfrm>
            <a:off x="7760494" y="2269093"/>
            <a:ext cx="1790581"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Recall</a:t>
            </a:r>
            <a:endParaRPr lang="en-US" sz="1600" dirty="0"/>
          </a:p>
        </p:txBody>
      </p:sp>
      <p:sp>
        <p:nvSpPr>
          <p:cNvPr id="10" name="Text 8"/>
          <p:cNvSpPr/>
          <p:nvPr/>
        </p:nvSpPr>
        <p:spPr>
          <a:xfrm>
            <a:off x="9904928" y="2269093"/>
            <a:ext cx="1790581"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F1-Score</a:t>
            </a:r>
            <a:endParaRPr lang="en-US" sz="1600" dirty="0"/>
          </a:p>
        </p:txBody>
      </p:sp>
      <p:sp>
        <p:nvSpPr>
          <p:cNvPr id="11" name="Text 9"/>
          <p:cNvSpPr/>
          <p:nvPr/>
        </p:nvSpPr>
        <p:spPr>
          <a:xfrm>
            <a:off x="12049363" y="2269093"/>
            <a:ext cx="1794391"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ROC-AUC</a:t>
            </a:r>
            <a:endParaRPr lang="en-US" sz="1600" dirty="0"/>
          </a:p>
        </p:txBody>
      </p:sp>
      <p:sp>
        <p:nvSpPr>
          <p:cNvPr id="12" name="Shape 10"/>
          <p:cNvSpPr/>
          <p:nvPr/>
        </p:nvSpPr>
        <p:spPr>
          <a:xfrm>
            <a:off x="613529" y="2657475"/>
            <a:ext cx="13403342" cy="499824"/>
          </a:xfrm>
          <a:prstGeom prst="rect">
            <a:avLst/>
          </a:prstGeom>
          <a:solidFill>
            <a:srgbClr val="000000">
              <a:alpha val="4000"/>
            </a:srgbClr>
          </a:solidFill>
          <a:ln/>
        </p:spPr>
      </p:sp>
      <p:sp>
        <p:nvSpPr>
          <p:cNvPr id="13" name="Text 11"/>
          <p:cNvSpPr/>
          <p:nvPr/>
        </p:nvSpPr>
        <p:spPr>
          <a:xfrm>
            <a:off x="787241" y="2768918"/>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GradientBoosting</a:t>
            </a:r>
            <a:endParaRPr lang="en-US" sz="1600" dirty="0"/>
          </a:p>
        </p:txBody>
      </p:sp>
      <p:sp>
        <p:nvSpPr>
          <p:cNvPr id="14" name="Text 12"/>
          <p:cNvSpPr/>
          <p:nvPr/>
        </p:nvSpPr>
        <p:spPr>
          <a:xfrm>
            <a:off x="3471624" y="2768918"/>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0.901</a:t>
            </a:r>
            <a:endParaRPr lang="en-US" sz="1350" dirty="0"/>
          </a:p>
        </p:txBody>
      </p:sp>
      <p:sp>
        <p:nvSpPr>
          <p:cNvPr id="15" name="Text 13"/>
          <p:cNvSpPr/>
          <p:nvPr/>
        </p:nvSpPr>
        <p:spPr>
          <a:xfrm>
            <a:off x="5616059" y="2768918"/>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0.723</a:t>
            </a:r>
            <a:endParaRPr lang="en-US" sz="1350" dirty="0"/>
          </a:p>
        </p:txBody>
      </p:sp>
      <p:sp>
        <p:nvSpPr>
          <p:cNvPr id="16" name="Text 14"/>
          <p:cNvSpPr/>
          <p:nvPr/>
        </p:nvSpPr>
        <p:spPr>
          <a:xfrm>
            <a:off x="7760494" y="2768918"/>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0.589</a:t>
            </a:r>
            <a:endParaRPr lang="en-US" sz="1350" dirty="0"/>
          </a:p>
        </p:txBody>
      </p:sp>
      <p:sp>
        <p:nvSpPr>
          <p:cNvPr id="17" name="Text 15"/>
          <p:cNvSpPr/>
          <p:nvPr/>
        </p:nvSpPr>
        <p:spPr>
          <a:xfrm>
            <a:off x="9904928" y="2768918"/>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0.649</a:t>
            </a:r>
            <a:endParaRPr lang="en-US" sz="1350" dirty="0"/>
          </a:p>
        </p:txBody>
      </p:sp>
      <p:sp>
        <p:nvSpPr>
          <p:cNvPr id="18" name="Text 16"/>
          <p:cNvSpPr/>
          <p:nvPr/>
        </p:nvSpPr>
        <p:spPr>
          <a:xfrm>
            <a:off x="12049363" y="2768918"/>
            <a:ext cx="179439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0.929</a:t>
            </a:r>
            <a:endParaRPr lang="en-US" sz="1350" dirty="0"/>
          </a:p>
        </p:txBody>
      </p:sp>
      <p:sp>
        <p:nvSpPr>
          <p:cNvPr id="19" name="Shape 17"/>
          <p:cNvSpPr/>
          <p:nvPr/>
        </p:nvSpPr>
        <p:spPr>
          <a:xfrm>
            <a:off x="613529" y="3157299"/>
            <a:ext cx="13403342" cy="499824"/>
          </a:xfrm>
          <a:prstGeom prst="rect">
            <a:avLst/>
          </a:prstGeom>
          <a:solidFill>
            <a:srgbClr val="FFFFFF">
              <a:alpha val="4000"/>
            </a:srgbClr>
          </a:solidFill>
          <a:ln/>
        </p:spPr>
      </p:sp>
      <p:sp>
        <p:nvSpPr>
          <p:cNvPr id="20" name="Text 18"/>
          <p:cNvSpPr/>
          <p:nvPr/>
        </p:nvSpPr>
        <p:spPr>
          <a:xfrm>
            <a:off x="787241" y="3268742"/>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RandomForest</a:t>
            </a:r>
            <a:endParaRPr lang="en-US" sz="1600" dirty="0"/>
          </a:p>
        </p:txBody>
      </p:sp>
      <p:sp>
        <p:nvSpPr>
          <p:cNvPr id="21" name="Text 19"/>
          <p:cNvSpPr/>
          <p:nvPr/>
        </p:nvSpPr>
        <p:spPr>
          <a:xfrm>
            <a:off x="3471624" y="3268742"/>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0.901</a:t>
            </a:r>
            <a:endParaRPr lang="en-US" sz="1350" dirty="0"/>
          </a:p>
        </p:txBody>
      </p:sp>
      <p:sp>
        <p:nvSpPr>
          <p:cNvPr id="22" name="Text 20"/>
          <p:cNvSpPr/>
          <p:nvPr/>
        </p:nvSpPr>
        <p:spPr>
          <a:xfrm>
            <a:off x="5616059" y="3268742"/>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0.751</a:t>
            </a:r>
            <a:endParaRPr lang="en-US" sz="1350" dirty="0"/>
          </a:p>
        </p:txBody>
      </p:sp>
      <p:sp>
        <p:nvSpPr>
          <p:cNvPr id="23" name="Text 21"/>
          <p:cNvSpPr/>
          <p:nvPr/>
        </p:nvSpPr>
        <p:spPr>
          <a:xfrm>
            <a:off x="7760494" y="3268742"/>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0.537</a:t>
            </a:r>
            <a:endParaRPr lang="en-US" sz="1350" dirty="0"/>
          </a:p>
        </p:txBody>
      </p:sp>
      <p:sp>
        <p:nvSpPr>
          <p:cNvPr id="24" name="Text 22"/>
          <p:cNvSpPr/>
          <p:nvPr/>
        </p:nvSpPr>
        <p:spPr>
          <a:xfrm>
            <a:off x="9904928" y="3268742"/>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0.626</a:t>
            </a:r>
            <a:endParaRPr lang="en-US" sz="1350" dirty="0"/>
          </a:p>
        </p:txBody>
      </p:sp>
      <p:sp>
        <p:nvSpPr>
          <p:cNvPr id="25" name="Text 23"/>
          <p:cNvSpPr/>
          <p:nvPr/>
        </p:nvSpPr>
        <p:spPr>
          <a:xfrm>
            <a:off x="12049363" y="3268742"/>
            <a:ext cx="179439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0.923</a:t>
            </a:r>
            <a:endParaRPr lang="en-US" sz="1350" dirty="0"/>
          </a:p>
        </p:txBody>
      </p:sp>
      <p:sp>
        <p:nvSpPr>
          <p:cNvPr id="26" name="Shape 24"/>
          <p:cNvSpPr/>
          <p:nvPr/>
        </p:nvSpPr>
        <p:spPr>
          <a:xfrm>
            <a:off x="613529" y="3657124"/>
            <a:ext cx="13403342" cy="499824"/>
          </a:xfrm>
          <a:prstGeom prst="rect">
            <a:avLst/>
          </a:prstGeom>
          <a:solidFill>
            <a:srgbClr val="000000">
              <a:alpha val="4000"/>
            </a:srgbClr>
          </a:solidFill>
          <a:ln/>
        </p:spPr>
        <p:txBody>
          <a:bodyPr/>
          <a:lstStyle/>
          <a:p>
            <a:endParaRPr lang="en-US" dirty="0"/>
          </a:p>
        </p:txBody>
      </p:sp>
      <p:sp>
        <p:nvSpPr>
          <p:cNvPr id="27" name="Text 25"/>
          <p:cNvSpPr/>
          <p:nvPr/>
        </p:nvSpPr>
        <p:spPr>
          <a:xfrm>
            <a:off x="787241" y="3768566"/>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SVM</a:t>
            </a:r>
            <a:endParaRPr lang="en-US" sz="1600" dirty="0"/>
          </a:p>
        </p:txBody>
      </p:sp>
      <p:sp>
        <p:nvSpPr>
          <p:cNvPr id="28" name="Text 26"/>
          <p:cNvSpPr/>
          <p:nvPr/>
        </p:nvSpPr>
        <p:spPr>
          <a:xfrm>
            <a:off x="3471624" y="3768566"/>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0.888</a:t>
            </a:r>
            <a:endParaRPr lang="en-US" sz="1350" dirty="0"/>
          </a:p>
        </p:txBody>
      </p:sp>
      <p:sp>
        <p:nvSpPr>
          <p:cNvPr id="29" name="Text 27"/>
          <p:cNvSpPr/>
          <p:nvPr/>
        </p:nvSpPr>
        <p:spPr>
          <a:xfrm>
            <a:off x="5616059" y="3768566"/>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0.690</a:t>
            </a:r>
            <a:endParaRPr lang="en-US" sz="1350" dirty="0"/>
          </a:p>
        </p:txBody>
      </p:sp>
      <p:sp>
        <p:nvSpPr>
          <p:cNvPr id="30" name="Text 28"/>
          <p:cNvSpPr/>
          <p:nvPr/>
        </p:nvSpPr>
        <p:spPr>
          <a:xfrm>
            <a:off x="7760494" y="3768566"/>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0.500</a:t>
            </a:r>
            <a:endParaRPr lang="en-US" sz="1350" dirty="0"/>
          </a:p>
        </p:txBody>
      </p:sp>
      <p:sp>
        <p:nvSpPr>
          <p:cNvPr id="31" name="Text 29"/>
          <p:cNvSpPr/>
          <p:nvPr/>
        </p:nvSpPr>
        <p:spPr>
          <a:xfrm>
            <a:off x="9904928" y="3768566"/>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0.580</a:t>
            </a:r>
            <a:endParaRPr lang="en-US" sz="1350" dirty="0"/>
          </a:p>
        </p:txBody>
      </p:sp>
      <p:sp>
        <p:nvSpPr>
          <p:cNvPr id="32" name="Text 30"/>
          <p:cNvSpPr/>
          <p:nvPr/>
        </p:nvSpPr>
        <p:spPr>
          <a:xfrm>
            <a:off x="12049363" y="3768566"/>
            <a:ext cx="179439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0.859</a:t>
            </a:r>
            <a:endParaRPr lang="en-US" sz="1350" dirty="0"/>
          </a:p>
        </p:txBody>
      </p:sp>
      <p:sp>
        <p:nvSpPr>
          <p:cNvPr id="33" name="Shape 31"/>
          <p:cNvSpPr/>
          <p:nvPr/>
        </p:nvSpPr>
        <p:spPr>
          <a:xfrm>
            <a:off x="613529" y="4156948"/>
            <a:ext cx="13403342" cy="499824"/>
          </a:xfrm>
          <a:prstGeom prst="rect">
            <a:avLst/>
          </a:prstGeom>
          <a:solidFill>
            <a:srgbClr val="FFFFFF">
              <a:alpha val="4000"/>
            </a:srgbClr>
          </a:solidFill>
          <a:ln/>
        </p:spPr>
      </p:sp>
      <p:sp>
        <p:nvSpPr>
          <p:cNvPr id="34" name="Text 32"/>
          <p:cNvSpPr/>
          <p:nvPr/>
        </p:nvSpPr>
        <p:spPr>
          <a:xfrm>
            <a:off x="787241" y="4268391"/>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LogisticRegression</a:t>
            </a:r>
            <a:endParaRPr lang="en-US" sz="1600" dirty="0"/>
          </a:p>
        </p:txBody>
      </p:sp>
      <p:sp>
        <p:nvSpPr>
          <p:cNvPr id="35" name="Text 33"/>
          <p:cNvSpPr/>
          <p:nvPr/>
        </p:nvSpPr>
        <p:spPr>
          <a:xfrm>
            <a:off x="3471624" y="4268391"/>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0.881</a:t>
            </a:r>
            <a:endParaRPr lang="en-US" sz="1350" dirty="0"/>
          </a:p>
        </p:txBody>
      </p:sp>
      <p:sp>
        <p:nvSpPr>
          <p:cNvPr id="36" name="Text 34"/>
          <p:cNvSpPr/>
          <p:nvPr/>
        </p:nvSpPr>
        <p:spPr>
          <a:xfrm>
            <a:off x="5616059" y="4268391"/>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0.743</a:t>
            </a:r>
            <a:endParaRPr lang="en-US" sz="1350" dirty="0"/>
          </a:p>
        </p:txBody>
      </p:sp>
      <p:sp>
        <p:nvSpPr>
          <p:cNvPr id="37" name="Text 35"/>
          <p:cNvSpPr/>
          <p:nvPr/>
        </p:nvSpPr>
        <p:spPr>
          <a:xfrm>
            <a:off x="7760494" y="4268391"/>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0.356</a:t>
            </a:r>
            <a:endParaRPr lang="en-US" sz="1350" dirty="0"/>
          </a:p>
        </p:txBody>
      </p:sp>
      <p:sp>
        <p:nvSpPr>
          <p:cNvPr id="38" name="Text 36"/>
          <p:cNvSpPr/>
          <p:nvPr/>
        </p:nvSpPr>
        <p:spPr>
          <a:xfrm>
            <a:off x="9904928" y="4268391"/>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0.481</a:t>
            </a:r>
            <a:endParaRPr lang="en-US" sz="1350" dirty="0"/>
          </a:p>
        </p:txBody>
      </p:sp>
      <p:sp>
        <p:nvSpPr>
          <p:cNvPr id="39" name="Text 37"/>
          <p:cNvSpPr/>
          <p:nvPr/>
        </p:nvSpPr>
        <p:spPr>
          <a:xfrm>
            <a:off x="12049363" y="4268391"/>
            <a:ext cx="179439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0.887</a:t>
            </a:r>
            <a:endParaRPr lang="en-US" sz="1350" dirty="0"/>
          </a:p>
        </p:txBody>
      </p:sp>
      <p:sp>
        <p:nvSpPr>
          <p:cNvPr id="40" name="Shape 38"/>
          <p:cNvSpPr/>
          <p:nvPr/>
        </p:nvSpPr>
        <p:spPr>
          <a:xfrm>
            <a:off x="613529" y="4656773"/>
            <a:ext cx="13403342" cy="499824"/>
          </a:xfrm>
          <a:prstGeom prst="rect">
            <a:avLst/>
          </a:prstGeom>
          <a:solidFill>
            <a:srgbClr val="000000">
              <a:alpha val="4000"/>
            </a:srgbClr>
          </a:solidFill>
          <a:ln/>
        </p:spPr>
        <p:txBody>
          <a:bodyPr/>
          <a:lstStyle/>
          <a:p>
            <a:endParaRPr lang="en-US" dirty="0"/>
          </a:p>
        </p:txBody>
      </p:sp>
      <p:sp>
        <p:nvSpPr>
          <p:cNvPr id="41" name="Text 39"/>
          <p:cNvSpPr/>
          <p:nvPr/>
        </p:nvSpPr>
        <p:spPr>
          <a:xfrm>
            <a:off x="787241" y="4768215"/>
            <a:ext cx="2330529" cy="276939"/>
          </a:xfrm>
          <a:prstGeom prst="rect">
            <a:avLst/>
          </a:prstGeom>
          <a:noFill/>
          <a:ln/>
        </p:spPr>
        <p:txBody>
          <a:bodyPr wrap="none" lIns="0" tIns="0" rIns="0" bIns="0" rtlCol="0" anchor="t"/>
          <a:lstStyle/>
          <a:p>
            <a:pPr marL="0" indent="0" algn="l">
              <a:lnSpc>
                <a:spcPts val="2150"/>
              </a:lnSpc>
              <a:buNone/>
            </a:pPr>
            <a:r>
              <a:rPr lang="en-US" sz="1600" dirty="0">
                <a:solidFill>
                  <a:srgbClr val="E5E0DF"/>
                </a:solidFill>
                <a:latin typeface="Roboto" pitchFamily="34" charset="0"/>
                <a:ea typeface="Roboto" pitchFamily="34" charset="-122"/>
                <a:cs typeface="Roboto" pitchFamily="34" charset="-120"/>
              </a:rPr>
              <a:t>AdaBoost</a:t>
            </a:r>
            <a:endParaRPr lang="en-US" sz="1600" dirty="0"/>
          </a:p>
        </p:txBody>
      </p:sp>
      <p:sp>
        <p:nvSpPr>
          <p:cNvPr id="42" name="Text 40"/>
          <p:cNvSpPr/>
          <p:nvPr/>
        </p:nvSpPr>
        <p:spPr>
          <a:xfrm>
            <a:off x="3471624" y="4768215"/>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0.880</a:t>
            </a:r>
            <a:endParaRPr lang="en-US" sz="1350" dirty="0"/>
          </a:p>
        </p:txBody>
      </p:sp>
      <p:sp>
        <p:nvSpPr>
          <p:cNvPr id="43" name="Text 41"/>
          <p:cNvSpPr/>
          <p:nvPr/>
        </p:nvSpPr>
        <p:spPr>
          <a:xfrm>
            <a:off x="5616059" y="4768215"/>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0.604</a:t>
            </a:r>
            <a:endParaRPr lang="en-US" sz="1350" dirty="0"/>
          </a:p>
        </p:txBody>
      </p:sp>
      <p:sp>
        <p:nvSpPr>
          <p:cNvPr id="44" name="Text 42"/>
          <p:cNvSpPr/>
          <p:nvPr/>
        </p:nvSpPr>
        <p:spPr>
          <a:xfrm>
            <a:off x="7760494" y="4768215"/>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0.647</a:t>
            </a:r>
            <a:endParaRPr lang="en-US" sz="1350" dirty="0"/>
          </a:p>
        </p:txBody>
      </p:sp>
      <p:sp>
        <p:nvSpPr>
          <p:cNvPr id="45" name="Text 43"/>
          <p:cNvSpPr/>
          <p:nvPr/>
        </p:nvSpPr>
        <p:spPr>
          <a:xfrm>
            <a:off x="9904928" y="4768215"/>
            <a:ext cx="179058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0.625</a:t>
            </a:r>
            <a:endParaRPr lang="en-US" sz="1350" dirty="0"/>
          </a:p>
        </p:txBody>
      </p:sp>
      <p:sp>
        <p:nvSpPr>
          <p:cNvPr id="46" name="Text 44"/>
          <p:cNvSpPr/>
          <p:nvPr/>
        </p:nvSpPr>
        <p:spPr>
          <a:xfrm>
            <a:off x="12049363" y="4768215"/>
            <a:ext cx="1794391" cy="276939"/>
          </a:xfrm>
          <a:prstGeom prst="rect">
            <a:avLst/>
          </a:prstGeom>
          <a:noFill/>
          <a:ln/>
        </p:spPr>
        <p:txBody>
          <a:bodyPr wrap="none" lIns="0" tIns="0" rIns="0" bIns="0" rtlCol="0" anchor="t"/>
          <a:lstStyle/>
          <a:p>
            <a:pPr marL="0" indent="0" algn="l">
              <a:lnSpc>
                <a:spcPts val="2150"/>
              </a:lnSpc>
              <a:buNone/>
            </a:pPr>
            <a:r>
              <a:rPr lang="en-US" sz="1350" dirty="0">
                <a:solidFill>
                  <a:srgbClr val="E5E0DF"/>
                </a:solidFill>
                <a:latin typeface="Roboto" pitchFamily="34" charset="0"/>
                <a:ea typeface="Roboto" pitchFamily="34" charset="-122"/>
                <a:cs typeface="Roboto" pitchFamily="34" charset="-120"/>
              </a:rPr>
              <a:t>0.898</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E0DC-05F2-8E77-7CC9-BDE0A2704C5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0BE1D22-A08B-9818-AEBB-F58A73EBC52E}"/>
              </a:ext>
            </a:extLst>
          </p:cNvPr>
          <p:cNvPicPr>
            <a:picLocks noChangeAspect="1"/>
          </p:cNvPicPr>
          <p:nvPr/>
        </p:nvPicPr>
        <p:blipFill>
          <a:blip r:embed="rId3"/>
          <a:stretch>
            <a:fillRect/>
          </a:stretch>
        </p:blipFill>
        <p:spPr>
          <a:xfrm>
            <a:off x="9144000" y="0"/>
            <a:ext cx="5486400" cy="8453199"/>
          </a:xfrm>
          <a:prstGeom prst="rect">
            <a:avLst/>
          </a:prstGeom>
        </p:spPr>
      </p:pic>
      <p:sp>
        <p:nvSpPr>
          <p:cNvPr id="3" name="Text 0">
            <a:extLst>
              <a:ext uri="{FF2B5EF4-FFF2-40B4-BE49-F238E27FC236}">
                <a16:creationId xmlns:a16="http://schemas.microsoft.com/office/drawing/2014/main" id="{13B7D722-5ADE-5140-7941-FD52706BBD24}"/>
              </a:ext>
            </a:extLst>
          </p:cNvPr>
          <p:cNvSpPr/>
          <p:nvPr/>
        </p:nvSpPr>
        <p:spPr>
          <a:xfrm>
            <a:off x="601980" y="473035"/>
            <a:ext cx="7940040" cy="1075134"/>
          </a:xfrm>
          <a:prstGeom prst="rect">
            <a:avLst/>
          </a:prstGeom>
          <a:noFill/>
          <a:ln/>
        </p:spPr>
        <p:txBody>
          <a:bodyPr wrap="square" lIns="0" tIns="0" rIns="0" bIns="0" rtlCol="0" anchor="t"/>
          <a:lstStyle/>
          <a:p>
            <a:pPr marL="0" indent="0" algn="l">
              <a:lnSpc>
                <a:spcPts val="4200"/>
              </a:lnSpc>
              <a:buNone/>
            </a:pPr>
            <a:r>
              <a:rPr lang="en-US" sz="3350" dirty="0">
                <a:solidFill>
                  <a:srgbClr val="FFFFFF"/>
                </a:solidFill>
                <a:latin typeface="Roboto Mono Medium" pitchFamily="34" charset="0"/>
                <a:ea typeface="Roboto Mono Medium" pitchFamily="34" charset="-122"/>
              </a:rPr>
              <a:t>ROC-AUC</a:t>
            </a:r>
            <a:endParaRPr lang="en-US" sz="3350" dirty="0"/>
          </a:p>
        </p:txBody>
      </p:sp>
      <p:sp>
        <p:nvSpPr>
          <p:cNvPr id="4" name="Text 1">
            <a:extLst>
              <a:ext uri="{FF2B5EF4-FFF2-40B4-BE49-F238E27FC236}">
                <a16:creationId xmlns:a16="http://schemas.microsoft.com/office/drawing/2014/main" id="{4FF26D6D-52E8-9436-7714-DF8649545CF3}"/>
              </a:ext>
            </a:extLst>
          </p:cNvPr>
          <p:cNvSpPr/>
          <p:nvPr/>
        </p:nvSpPr>
        <p:spPr>
          <a:xfrm>
            <a:off x="601980" y="1272896"/>
            <a:ext cx="7940040" cy="550545"/>
          </a:xfrm>
          <a:prstGeom prst="rect">
            <a:avLst/>
          </a:prstGeom>
          <a:noFill/>
          <a:ln/>
        </p:spPr>
        <p:txBody>
          <a:bodyPr wrap="square" lIns="0" tIns="0" rIns="0" bIns="0" rtlCol="0" anchor="t"/>
          <a:lstStyle/>
          <a:p>
            <a:pPr>
              <a:lnSpc>
                <a:spcPts val="2150"/>
              </a:lnSpc>
            </a:pPr>
            <a:r>
              <a:rPr lang="en-US" dirty="0">
                <a:solidFill>
                  <a:srgbClr val="E5E0DF"/>
                </a:solidFill>
                <a:latin typeface="Roboto" pitchFamily="34" charset="0"/>
                <a:ea typeface="Roboto" pitchFamily="34" charset="-122"/>
                <a:cs typeface="Roboto" pitchFamily="34" charset="-120"/>
              </a:rPr>
              <a:t>The ROC curve visually confirms Gradient Boosting's superior performance across key metrics among the initially compared algorithms, closely followed by Random Forest.</a:t>
            </a:r>
            <a:endParaRPr lang="en-US" dirty="0"/>
          </a:p>
        </p:txBody>
      </p:sp>
      <p:sp>
        <p:nvSpPr>
          <p:cNvPr id="10" name="Text 6">
            <a:extLst>
              <a:ext uri="{FF2B5EF4-FFF2-40B4-BE49-F238E27FC236}">
                <a16:creationId xmlns:a16="http://schemas.microsoft.com/office/drawing/2014/main" id="{1014C918-54AA-E474-AAA8-2E9EB05D3F52}"/>
              </a:ext>
            </a:extLst>
          </p:cNvPr>
          <p:cNvSpPr/>
          <p:nvPr/>
        </p:nvSpPr>
        <p:spPr>
          <a:xfrm>
            <a:off x="601980" y="6232088"/>
            <a:ext cx="2192536" cy="268724"/>
          </a:xfrm>
          <a:prstGeom prst="rect">
            <a:avLst/>
          </a:prstGeom>
          <a:noFill/>
          <a:ln/>
        </p:spPr>
        <p:txBody>
          <a:bodyPr wrap="none" lIns="0" tIns="0" rIns="0" bIns="0" rtlCol="0" anchor="t"/>
          <a:lstStyle/>
          <a:p>
            <a:pPr marL="0" indent="0" algn="l">
              <a:lnSpc>
                <a:spcPts val="2100"/>
              </a:lnSpc>
              <a:buNone/>
            </a:pPr>
            <a:endParaRPr lang="en-US" sz="1650" dirty="0"/>
          </a:p>
        </p:txBody>
      </p:sp>
      <p:sp>
        <p:nvSpPr>
          <p:cNvPr id="11" name="Text 7">
            <a:extLst>
              <a:ext uri="{FF2B5EF4-FFF2-40B4-BE49-F238E27FC236}">
                <a16:creationId xmlns:a16="http://schemas.microsoft.com/office/drawing/2014/main" id="{DB3C8A00-7D49-83CC-32F5-25A36537E412}"/>
              </a:ext>
            </a:extLst>
          </p:cNvPr>
          <p:cNvSpPr/>
          <p:nvPr/>
        </p:nvSpPr>
        <p:spPr>
          <a:xfrm>
            <a:off x="601980" y="6758821"/>
            <a:ext cx="7940040" cy="275273"/>
          </a:xfrm>
          <a:prstGeom prst="rect">
            <a:avLst/>
          </a:prstGeom>
          <a:noFill/>
          <a:ln/>
        </p:spPr>
        <p:txBody>
          <a:bodyPr wrap="none" lIns="0" tIns="0" rIns="0" bIns="0" rtlCol="0" anchor="t"/>
          <a:lstStyle/>
          <a:p>
            <a:pPr algn="l">
              <a:lnSpc>
                <a:spcPts val="2150"/>
              </a:lnSpc>
              <a:buSzPct val="100000"/>
            </a:pPr>
            <a:endParaRPr lang="en-US" sz="1350" dirty="0"/>
          </a:p>
        </p:txBody>
      </p:sp>
      <p:sp>
        <p:nvSpPr>
          <p:cNvPr id="13" name="Text 9">
            <a:extLst>
              <a:ext uri="{FF2B5EF4-FFF2-40B4-BE49-F238E27FC236}">
                <a16:creationId xmlns:a16="http://schemas.microsoft.com/office/drawing/2014/main" id="{8770226C-C7C9-3854-827D-9296AE037D2A}"/>
              </a:ext>
            </a:extLst>
          </p:cNvPr>
          <p:cNvSpPr/>
          <p:nvPr/>
        </p:nvSpPr>
        <p:spPr>
          <a:xfrm>
            <a:off x="601980" y="7429619"/>
            <a:ext cx="7940040" cy="550545"/>
          </a:xfrm>
          <a:prstGeom prst="rect">
            <a:avLst/>
          </a:prstGeom>
          <a:noFill/>
          <a:ln/>
        </p:spPr>
        <p:txBody>
          <a:bodyPr wrap="square" lIns="0" tIns="0" rIns="0" bIns="0" rtlCol="0" anchor="t"/>
          <a:lstStyle/>
          <a:p>
            <a:pPr marL="342900" indent="-342900" algn="l">
              <a:lnSpc>
                <a:spcPts val="2150"/>
              </a:lnSpc>
              <a:buSzPct val="100000"/>
              <a:buChar char="•"/>
            </a:pPr>
            <a:endParaRPr lang="en-US" sz="1350" dirty="0"/>
          </a:p>
        </p:txBody>
      </p:sp>
      <p:pic>
        <p:nvPicPr>
          <p:cNvPr id="15" name="Picture 14">
            <a:extLst>
              <a:ext uri="{FF2B5EF4-FFF2-40B4-BE49-F238E27FC236}">
                <a16:creationId xmlns:a16="http://schemas.microsoft.com/office/drawing/2014/main" id="{9059CF04-67E3-C02E-D29E-FB9C440FC4A5}"/>
              </a:ext>
            </a:extLst>
          </p:cNvPr>
          <p:cNvPicPr>
            <a:picLocks noChangeAspect="1"/>
          </p:cNvPicPr>
          <p:nvPr/>
        </p:nvPicPr>
        <p:blipFill>
          <a:blip r:embed="rId4"/>
          <a:srcRect r="24676"/>
          <a:stretch>
            <a:fillRect/>
          </a:stretch>
        </p:blipFill>
        <p:spPr>
          <a:xfrm>
            <a:off x="601980" y="2555794"/>
            <a:ext cx="7267321" cy="5424370"/>
          </a:xfrm>
          <a:prstGeom prst="rect">
            <a:avLst/>
          </a:prstGeom>
        </p:spPr>
      </p:pic>
    </p:spTree>
    <p:extLst>
      <p:ext uri="{BB962C8B-B14F-4D97-AF65-F5344CB8AC3E}">
        <p14:creationId xmlns:p14="http://schemas.microsoft.com/office/powerpoint/2010/main" val="2460792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9111" y="628769"/>
            <a:ext cx="11565017" cy="454581"/>
          </a:xfrm>
          <a:prstGeom prst="rect">
            <a:avLst/>
          </a:prstGeom>
          <a:noFill/>
          <a:ln/>
        </p:spPr>
        <p:txBody>
          <a:bodyPr wrap="none" lIns="0" tIns="0" rIns="0" bIns="0" rtlCol="0" anchor="t"/>
          <a:lstStyle/>
          <a:p>
            <a:pPr marL="0" indent="0" algn="l">
              <a:lnSpc>
                <a:spcPts val="3550"/>
              </a:lnSpc>
              <a:buNone/>
            </a:pPr>
            <a:r>
              <a:rPr lang="en-US" sz="2850" dirty="0">
                <a:solidFill>
                  <a:srgbClr val="FFFFFF"/>
                </a:solidFill>
                <a:latin typeface="Roboto Mono Medium" pitchFamily="34" charset="0"/>
                <a:ea typeface="Roboto Mono Medium" pitchFamily="34" charset="-122"/>
                <a:cs typeface="Roboto Mono Medium" pitchFamily="34" charset="-120"/>
              </a:rPr>
              <a:t>CatBoost Model: Optimized Performance and Key Drivers</a:t>
            </a:r>
            <a:endParaRPr lang="en-US" sz="2850" dirty="0"/>
          </a:p>
        </p:txBody>
      </p:sp>
      <p:sp>
        <p:nvSpPr>
          <p:cNvPr id="3" name="Text 1"/>
          <p:cNvSpPr/>
          <p:nvPr/>
        </p:nvSpPr>
        <p:spPr>
          <a:xfrm>
            <a:off x="509111" y="1374219"/>
            <a:ext cx="13612177" cy="232767"/>
          </a:xfrm>
          <a:prstGeom prst="rect">
            <a:avLst/>
          </a:prstGeom>
          <a:noFill/>
          <a:ln/>
        </p:spPr>
        <p:txBody>
          <a:bodyPr wrap="none" lIns="0" tIns="0" rIns="0" bIns="0" rtlCol="0" anchor="t"/>
          <a:lstStyle/>
          <a:p>
            <a:pPr marL="0" indent="0" algn="l">
              <a:lnSpc>
                <a:spcPts val="1800"/>
              </a:lnSpc>
              <a:buNone/>
            </a:pPr>
            <a:r>
              <a:rPr lang="en-US" sz="1200" dirty="0">
                <a:solidFill>
                  <a:srgbClr val="E5E0DF"/>
                </a:solidFill>
                <a:latin typeface="Roboto" pitchFamily="34" charset="0"/>
                <a:ea typeface="Roboto" pitchFamily="34" charset="-122"/>
                <a:cs typeface="Roboto" pitchFamily="34" charset="-120"/>
              </a:rPr>
              <a:t>To enhance predictive accuracy, the CatBoost algorithm was subjected to hyperparameter tuning, yielding optimal settings and revealing critical factors influencing online purchasing decisions.</a:t>
            </a:r>
            <a:endParaRPr lang="en-US" sz="1200" dirty="0"/>
          </a:p>
        </p:txBody>
      </p:sp>
      <p:sp>
        <p:nvSpPr>
          <p:cNvPr id="4" name="Shape 2"/>
          <p:cNvSpPr/>
          <p:nvPr/>
        </p:nvSpPr>
        <p:spPr>
          <a:xfrm>
            <a:off x="509111" y="1770578"/>
            <a:ext cx="13612177" cy="1158002"/>
          </a:xfrm>
          <a:prstGeom prst="roundRect">
            <a:avLst>
              <a:gd name="adj" fmla="val 1885"/>
            </a:avLst>
          </a:prstGeom>
          <a:solidFill>
            <a:srgbClr val="404040"/>
          </a:solidFill>
          <a:ln/>
        </p:spPr>
      </p:sp>
      <p:sp>
        <p:nvSpPr>
          <p:cNvPr id="5" name="Shape 3"/>
          <p:cNvSpPr/>
          <p:nvPr/>
        </p:nvSpPr>
        <p:spPr>
          <a:xfrm>
            <a:off x="509111" y="1770578"/>
            <a:ext cx="4537353" cy="1158002"/>
          </a:xfrm>
          <a:prstGeom prst="roundRect">
            <a:avLst>
              <a:gd name="adj" fmla="val 1885"/>
            </a:avLst>
          </a:prstGeom>
          <a:solidFill>
            <a:srgbClr val="A020F0"/>
          </a:solidFill>
          <a:ln/>
        </p:spPr>
      </p:sp>
      <p:sp>
        <p:nvSpPr>
          <p:cNvPr id="6" name="Text 4"/>
          <p:cNvSpPr/>
          <p:nvPr/>
        </p:nvSpPr>
        <p:spPr>
          <a:xfrm>
            <a:off x="654487" y="1915954"/>
            <a:ext cx="1963936" cy="227171"/>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Roboto Mono Medium" pitchFamily="34" charset="0"/>
                <a:ea typeface="Roboto Mono Medium" pitchFamily="34" charset="-122"/>
                <a:cs typeface="Roboto Mono Medium" pitchFamily="34" charset="-120"/>
              </a:rPr>
              <a:t>Optimal Parameters</a:t>
            </a:r>
            <a:endParaRPr lang="en-US" sz="1400" dirty="0"/>
          </a:p>
        </p:txBody>
      </p:sp>
      <p:sp>
        <p:nvSpPr>
          <p:cNvPr id="7" name="Text 5"/>
          <p:cNvSpPr/>
          <p:nvPr/>
        </p:nvSpPr>
        <p:spPr>
          <a:xfrm>
            <a:off x="654487" y="2230398"/>
            <a:ext cx="4246602" cy="232767"/>
          </a:xfrm>
          <a:prstGeom prst="rect">
            <a:avLst/>
          </a:prstGeom>
          <a:noFill/>
          <a:ln/>
        </p:spPr>
        <p:txBody>
          <a:bodyPr wrap="none" lIns="0" tIns="0" rIns="0" bIns="0" rtlCol="0" anchor="t"/>
          <a:lstStyle/>
          <a:p>
            <a:pPr marL="0" indent="0" algn="l">
              <a:lnSpc>
                <a:spcPts val="1800"/>
              </a:lnSpc>
              <a:buNone/>
            </a:pPr>
            <a:r>
              <a:rPr lang="en-US" sz="1100" b="1" dirty="0">
                <a:solidFill>
                  <a:srgbClr val="FFFFFF"/>
                </a:solidFill>
                <a:latin typeface="Roboto" pitchFamily="34" charset="0"/>
                <a:ea typeface="Roboto" pitchFamily="34" charset="-122"/>
                <a:cs typeface="Roboto" pitchFamily="34" charset="-120"/>
              </a:rPr>
              <a:t>Learning Rate:</a:t>
            </a:r>
            <a:r>
              <a:rPr lang="en-US" sz="1100" dirty="0">
                <a:solidFill>
                  <a:srgbClr val="FFFFFF"/>
                </a:solidFill>
                <a:latin typeface="Roboto" pitchFamily="34" charset="0"/>
                <a:ea typeface="Roboto" pitchFamily="34" charset="-122"/>
                <a:cs typeface="Roboto" pitchFamily="34" charset="-120"/>
              </a:rPr>
              <a:t> 0.03</a:t>
            </a:r>
            <a:endParaRPr lang="en-US" sz="1100" dirty="0"/>
          </a:p>
        </p:txBody>
      </p:sp>
      <p:sp>
        <p:nvSpPr>
          <p:cNvPr id="8" name="Text 6"/>
          <p:cNvSpPr/>
          <p:nvPr/>
        </p:nvSpPr>
        <p:spPr>
          <a:xfrm>
            <a:off x="654487" y="2550438"/>
            <a:ext cx="4246602" cy="232767"/>
          </a:xfrm>
          <a:prstGeom prst="rect">
            <a:avLst/>
          </a:prstGeom>
          <a:noFill/>
          <a:ln/>
        </p:spPr>
        <p:txBody>
          <a:bodyPr wrap="none" lIns="0" tIns="0" rIns="0" bIns="0" rtlCol="0" anchor="t"/>
          <a:lstStyle/>
          <a:p>
            <a:pPr marL="0" indent="0" algn="l">
              <a:lnSpc>
                <a:spcPts val="1800"/>
              </a:lnSpc>
              <a:buNone/>
            </a:pPr>
            <a:r>
              <a:rPr lang="en-US" sz="1100" b="1" dirty="0">
                <a:solidFill>
                  <a:srgbClr val="FFFFFF"/>
                </a:solidFill>
                <a:latin typeface="Roboto" pitchFamily="34" charset="0"/>
                <a:ea typeface="Roboto" pitchFamily="34" charset="-122"/>
                <a:cs typeface="Roboto" pitchFamily="34" charset="-120"/>
              </a:rPr>
              <a:t>L2 Leaf Reg:</a:t>
            </a:r>
            <a:r>
              <a:rPr lang="en-US" sz="1100" dirty="0">
                <a:solidFill>
                  <a:srgbClr val="FFFFFF"/>
                </a:solidFill>
                <a:latin typeface="Roboto" pitchFamily="34" charset="0"/>
                <a:ea typeface="Roboto" pitchFamily="34" charset="-122"/>
                <a:cs typeface="Roboto" pitchFamily="34" charset="-120"/>
              </a:rPr>
              <a:t> 9</a:t>
            </a:r>
            <a:endParaRPr lang="en-US" sz="1100" dirty="0"/>
          </a:p>
        </p:txBody>
      </p:sp>
      <p:sp>
        <p:nvSpPr>
          <p:cNvPr id="9" name="Shape 7"/>
          <p:cNvSpPr/>
          <p:nvPr/>
        </p:nvSpPr>
        <p:spPr>
          <a:xfrm>
            <a:off x="5046464" y="1770578"/>
            <a:ext cx="4537353" cy="1158002"/>
          </a:xfrm>
          <a:prstGeom prst="rect">
            <a:avLst/>
          </a:prstGeom>
          <a:solidFill>
            <a:srgbClr val="A020F0"/>
          </a:solidFill>
          <a:ln/>
        </p:spPr>
      </p:sp>
      <p:sp>
        <p:nvSpPr>
          <p:cNvPr id="10" name="Shape 8"/>
          <p:cNvSpPr/>
          <p:nvPr/>
        </p:nvSpPr>
        <p:spPr>
          <a:xfrm>
            <a:off x="5046464" y="1770578"/>
            <a:ext cx="15240" cy="1158002"/>
          </a:xfrm>
          <a:prstGeom prst="roundRect">
            <a:avLst>
              <a:gd name="adj" fmla="val 143194"/>
            </a:avLst>
          </a:prstGeom>
          <a:solidFill>
            <a:srgbClr val="B939FF"/>
          </a:solidFill>
          <a:ln/>
        </p:spPr>
      </p:sp>
      <p:sp>
        <p:nvSpPr>
          <p:cNvPr id="11" name="Text 9"/>
          <p:cNvSpPr/>
          <p:nvPr/>
        </p:nvSpPr>
        <p:spPr>
          <a:xfrm>
            <a:off x="5191839" y="1915954"/>
            <a:ext cx="1818442" cy="227171"/>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Roboto Mono Medium" pitchFamily="34" charset="0"/>
                <a:ea typeface="Roboto Mono Medium" pitchFamily="34" charset="-122"/>
                <a:cs typeface="Roboto Mono Medium" pitchFamily="34" charset="-120"/>
              </a:rPr>
              <a:t>Model Depth</a:t>
            </a:r>
            <a:endParaRPr lang="en-US" sz="1400" dirty="0"/>
          </a:p>
        </p:txBody>
      </p:sp>
      <p:sp>
        <p:nvSpPr>
          <p:cNvPr id="12" name="Text 10"/>
          <p:cNvSpPr/>
          <p:nvPr/>
        </p:nvSpPr>
        <p:spPr>
          <a:xfrm>
            <a:off x="5191839" y="2230398"/>
            <a:ext cx="4246602" cy="232767"/>
          </a:xfrm>
          <a:prstGeom prst="rect">
            <a:avLst/>
          </a:prstGeom>
          <a:noFill/>
          <a:ln/>
        </p:spPr>
        <p:txBody>
          <a:bodyPr wrap="none" lIns="0" tIns="0" rIns="0" bIns="0" rtlCol="0" anchor="t"/>
          <a:lstStyle/>
          <a:p>
            <a:pPr marL="0" indent="0" algn="l">
              <a:lnSpc>
                <a:spcPts val="1800"/>
              </a:lnSpc>
              <a:buNone/>
            </a:pPr>
            <a:r>
              <a:rPr lang="en-US" sz="1100" b="1" dirty="0">
                <a:solidFill>
                  <a:srgbClr val="FFFFFF"/>
                </a:solidFill>
                <a:latin typeface="Roboto" pitchFamily="34" charset="0"/>
                <a:ea typeface="Roboto" pitchFamily="34" charset="-122"/>
                <a:cs typeface="Roboto" pitchFamily="34" charset="-120"/>
              </a:rPr>
              <a:t>Depth:</a:t>
            </a:r>
            <a:r>
              <a:rPr lang="en-US" sz="1100" dirty="0">
                <a:solidFill>
                  <a:srgbClr val="FFFFFF"/>
                </a:solidFill>
                <a:latin typeface="Roboto" pitchFamily="34" charset="0"/>
                <a:ea typeface="Roboto" pitchFamily="34" charset="-122"/>
                <a:cs typeface="Roboto" pitchFamily="34" charset="-120"/>
              </a:rPr>
              <a:t> 6</a:t>
            </a:r>
            <a:endParaRPr lang="en-US" sz="1100" dirty="0"/>
          </a:p>
        </p:txBody>
      </p:sp>
      <p:sp>
        <p:nvSpPr>
          <p:cNvPr id="13" name="Text 11"/>
          <p:cNvSpPr/>
          <p:nvPr/>
        </p:nvSpPr>
        <p:spPr>
          <a:xfrm>
            <a:off x="5191839" y="2550438"/>
            <a:ext cx="4246602" cy="232767"/>
          </a:xfrm>
          <a:prstGeom prst="rect">
            <a:avLst/>
          </a:prstGeom>
          <a:noFill/>
          <a:ln/>
        </p:spPr>
        <p:txBody>
          <a:bodyPr wrap="none" lIns="0" tIns="0" rIns="0" bIns="0" rtlCol="0" anchor="t"/>
          <a:lstStyle/>
          <a:p>
            <a:pPr marL="0" indent="0" algn="l">
              <a:lnSpc>
                <a:spcPts val="1800"/>
              </a:lnSpc>
              <a:buNone/>
            </a:pPr>
            <a:r>
              <a:rPr lang="en-US" sz="1100" b="1" dirty="0">
                <a:solidFill>
                  <a:srgbClr val="FFFFFF"/>
                </a:solidFill>
                <a:latin typeface="Roboto" pitchFamily="34" charset="0"/>
                <a:ea typeface="Roboto" pitchFamily="34" charset="-122"/>
                <a:cs typeface="Roboto" pitchFamily="34" charset="-120"/>
              </a:rPr>
              <a:t>Bagging Temp:</a:t>
            </a:r>
            <a:r>
              <a:rPr lang="en-US" sz="1100" dirty="0">
                <a:solidFill>
                  <a:srgbClr val="FFFFFF"/>
                </a:solidFill>
                <a:latin typeface="Roboto" pitchFamily="34" charset="0"/>
                <a:ea typeface="Roboto" pitchFamily="34" charset="-122"/>
                <a:cs typeface="Roboto" pitchFamily="34" charset="-120"/>
              </a:rPr>
              <a:t> 0.5</a:t>
            </a:r>
            <a:endParaRPr lang="en-US" sz="1100" dirty="0"/>
          </a:p>
        </p:txBody>
      </p:sp>
      <p:sp>
        <p:nvSpPr>
          <p:cNvPr id="14" name="Shape 12"/>
          <p:cNvSpPr/>
          <p:nvPr/>
        </p:nvSpPr>
        <p:spPr>
          <a:xfrm>
            <a:off x="9583817" y="1770578"/>
            <a:ext cx="4537472" cy="1158002"/>
          </a:xfrm>
          <a:prstGeom prst="rect">
            <a:avLst/>
          </a:prstGeom>
          <a:solidFill>
            <a:srgbClr val="A020F0"/>
          </a:solidFill>
          <a:ln/>
        </p:spPr>
      </p:sp>
      <p:sp>
        <p:nvSpPr>
          <p:cNvPr id="15" name="Shape 13"/>
          <p:cNvSpPr/>
          <p:nvPr/>
        </p:nvSpPr>
        <p:spPr>
          <a:xfrm>
            <a:off x="9583817" y="1770578"/>
            <a:ext cx="15240" cy="1158002"/>
          </a:xfrm>
          <a:prstGeom prst="roundRect">
            <a:avLst>
              <a:gd name="adj" fmla="val 143194"/>
            </a:avLst>
          </a:prstGeom>
          <a:solidFill>
            <a:srgbClr val="B939FF"/>
          </a:solidFill>
          <a:ln/>
        </p:spPr>
      </p:sp>
      <p:sp>
        <p:nvSpPr>
          <p:cNvPr id="16" name="Text 14"/>
          <p:cNvSpPr/>
          <p:nvPr/>
        </p:nvSpPr>
        <p:spPr>
          <a:xfrm>
            <a:off x="9729192" y="1915954"/>
            <a:ext cx="1818442" cy="227171"/>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Roboto Mono Medium" pitchFamily="34" charset="0"/>
                <a:ea typeface="Roboto Mono Medium" pitchFamily="34" charset="-122"/>
                <a:cs typeface="Roboto Mono Medium" pitchFamily="34" charset="-120"/>
              </a:rPr>
              <a:t>Best AUC (CV)</a:t>
            </a:r>
            <a:endParaRPr lang="en-US" sz="1400" dirty="0"/>
          </a:p>
        </p:txBody>
      </p:sp>
      <p:sp>
        <p:nvSpPr>
          <p:cNvPr id="17" name="Text 15"/>
          <p:cNvSpPr/>
          <p:nvPr/>
        </p:nvSpPr>
        <p:spPr>
          <a:xfrm>
            <a:off x="9729192" y="2230398"/>
            <a:ext cx="4246721" cy="232767"/>
          </a:xfrm>
          <a:prstGeom prst="rect">
            <a:avLst/>
          </a:prstGeom>
          <a:noFill/>
          <a:ln/>
        </p:spPr>
        <p:txBody>
          <a:bodyPr wrap="none" lIns="0" tIns="0" rIns="0" bIns="0" rtlCol="0" anchor="t"/>
          <a:lstStyle/>
          <a:p>
            <a:pPr marL="0" indent="0" algn="l">
              <a:lnSpc>
                <a:spcPts val="1800"/>
              </a:lnSpc>
              <a:buNone/>
            </a:pPr>
            <a:r>
              <a:rPr lang="en-US" sz="1100" dirty="0">
                <a:solidFill>
                  <a:srgbClr val="FFFFFF"/>
                </a:solidFill>
                <a:latin typeface="Roboto" pitchFamily="34" charset="0"/>
                <a:ea typeface="Roboto" pitchFamily="34" charset="-122"/>
                <a:cs typeface="Roboto" pitchFamily="34" charset="-120"/>
              </a:rPr>
              <a:t>0.928</a:t>
            </a:r>
            <a:endParaRPr lang="en-US" sz="1100" dirty="0"/>
          </a:p>
        </p:txBody>
      </p:sp>
      <p:sp>
        <p:nvSpPr>
          <p:cNvPr id="18" name="Text 16"/>
          <p:cNvSpPr/>
          <p:nvPr/>
        </p:nvSpPr>
        <p:spPr>
          <a:xfrm>
            <a:off x="9729192" y="2550438"/>
            <a:ext cx="4246721" cy="232767"/>
          </a:xfrm>
          <a:prstGeom prst="rect">
            <a:avLst/>
          </a:prstGeom>
          <a:noFill/>
          <a:ln/>
        </p:spPr>
        <p:txBody>
          <a:bodyPr wrap="none" lIns="0" tIns="0" rIns="0" bIns="0" rtlCol="0" anchor="t"/>
          <a:lstStyle/>
          <a:p>
            <a:pPr marL="0" indent="0" algn="l">
              <a:lnSpc>
                <a:spcPts val="1800"/>
              </a:lnSpc>
              <a:buNone/>
            </a:pPr>
            <a:r>
              <a:rPr lang="en-US" sz="1100" i="1" dirty="0">
                <a:solidFill>
                  <a:srgbClr val="FFFFFF"/>
                </a:solidFill>
                <a:latin typeface="Roboto" pitchFamily="34" charset="0"/>
                <a:ea typeface="Roboto" pitchFamily="34" charset="-122"/>
                <a:cs typeface="Roboto" pitchFamily="34" charset="-120"/>
              </a:rPr>
              <a:t>(Cross-Validation)</a:t>
            </a:r>
            <a:endParaRPr lang="en-US" sz="1100" dirty="0"/>
          </a:p>
        </p:txBody>
      </p:sp>
      <p:sp>
        <p:nvSpPr>
          <p:cNvPr id="19" name="Text 17"/>
          <p:cNvSpPr/>
          <p:nvPr/>
        </p:nvSpPr>
        <p:spPr>
          <a:xfrm>
            <a:off x="509111" y="3237548"/>
            <a:ext cx="2727603" cy="227171"/>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Roboto Mono Medium" pitchFamily="34" charset="0"/>
                <a:ea typeface="Roboto Mono Medium" pitchFamily="34" charset="-122"/>
                <a:cs typeface="Roboto Mono Medium" pitchFamily="34" charset="-120"/>
              </a:rPr>
              <a:t>Model Performance Metrics</a:t>
            </a:r>
            <a:endParaRPr lang="en-US" sz="1400" dirty="0"/>
          </a:p>
        </p:txBody>
      </p:sp>
      <p:sp>
        <p:nvSpPr>
          <p:cNvPr id="20" name="Shape 18"/>
          <p:cNvSpPr/>
          <p:nvPr/>
        </p:nvSpPr>
        <p:spPr>
          <a:xfrm>
            <a:off x="509111" y="3628311"/>
            <a:ext cx="6628686" cy="2128004"/>
          </a:xfrm>
          <a:prstGeom prst="roundRect">
            <a:avLst>
              <a:gd name="adj" fmla="val 1026"/>
            </a:avLst>
          </a:prstGeom>
          <a:noFill/>
          <a:ln w="7620">
            <a:solidFill>
              <a:srgbClr val="FFFFFF">
                <a:alpha val="24000"/>
              </a:srgbClr>
            </a:solidFill>
            <a:prstDash val="solid"/>
          </a:ln>
        </p:spPr>
      </p:sp>
      <p:sp>
        <p:nvSpPr>
          <p:cNvPr id="21" name="Shape 19"/>
          <p:cNvSpPr/>
          <p:nvPr/>
        </p:nvSpPr>
        <p:spPr>
          <a:xfrm>
            <a:off x="516731" y="3635931"/>
            <a:ext cx="6613446" cy="422553"/>
          </a:xfrm>
          <a:prstGeom prst="rect">
            <a:avLst/>
          </a:prstGeom>
          <a:solidFill>
            <a:srgbClr val="FFFFFF">
              <a:alpha val="4000"/>
            </a:srgbClr>
          </a:solidFill>
          <a:ln/>
        </p:spPr>
      </p:sp>
      <p:sp>
        <p:nvSpPr>
          <p:cNvPr id="22" name="Text 20"/>
          <p:cNvSpPr/>
          <p:nvPr/>
        </p:nvSpPr>
        <p:spPr>
          <a:xfrm>
            <a:off x="662107" y="3730823"/>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Accuracy</a:t>
            </a:r>
            <a:endParaRPr lang="en-US" sz="1100" dirty="0"/>
          </a:p>
        </p:txBody>
      </p:sp>
      <p:sp>
        <p:nvSpPr>
          <p:cNvPr id="23" name="Text 21"/>
          <p:cNvSpPr/>
          <p:nvPr/>
        </p:nvSpPr>
        <p:spPr>
          <a:xfrm>
            <a:off x="3972639" y="3730823"/>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0.863</a:t>
            </a:r>
            <a:endParaRPr lang="en-US" sz="1100" dirty="0"/>
          </a:p>
        </p:txBody>
      </p:sp>
      <p:sp>
        <p:nvSpPr>
          <p:cNvPr id="24" name="Shape 22"/>
          <p:cNvSpPr/>
          <p:nvPr/>
        </p:nvSpPr>
        <p:spPr>
          <a:xfrm>
            <a:off x="516731" y="4058483"/>
            <a:ext cx="6613446" cy="422553"/>
          </a:xfrm>
          <a:prstGeom prst="rect">
            <a:avLst/>
          </a:prstGeom>
          <a:solidFill>
            <a:srgbClr val="000000">
              <a:alpha val="4000"/>
            </a:srgbClr>
          </a:solidFill>
          <a:ln/>
        </p:spPr>
      </p:sp>
      <p:sp>
        <p:nvSpPr>
          <p:cNvPr id="25" name="Text 23"/>
          <p:cNvSpPr/>
          <p:nvPr/>
        </p:nvSpPr>
        <p:spPr>
          <a:xfrm>
            <a:off x="662107" y="4153376"/>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Precision</a:t>
            </a:r>
            <a:endParaRPr lang="en-US" sz="1100" dirty="0"/>
          </a:p>
        </p:txBody>
      </p:sp>
      <p:sp>
        <p:nvSpPr>
          <p:cNvPr id="26" name="Text 24"/>
          <p:cNvSpPr/>
          <p:nvPr/>
        </p:nvSpPr>
        <p:spPr>
          <a:xfrm>
            <a:off x="3972639" y="4153376"/>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0.536</a:t>
            </a:r>
            <a:endParaRPr lang="en-US" sz="1100" dirty="0"/>
          </a:p>
        </p:txBody>
      </p:sp>
      <p:sp>
        <p:nvSpPr>
          <p:cNvPr id="27" name="Shape 25"/>
          <p:cNvSpPr/>
          <p:nvPr/>
        </p:nvSpPr>
        <p:spPr>
          <a:xfrm>
            <a:off x="516731" y="4481036"/>
            <a:ext cx="6613446" cy="422553"/>
          </a:xfrm>
          <a:prstGeom prst="rect">
            <a:avLst/>
          </a:prstGeom>
          <a:solidFill>
            <a:srgbClr val="FFFFFF">
              <a:alpha val="4000"/>
            </a:srgbClr>
          </a:solidFill>
          <a:ln/>
        </p:spPr>
      </p:sp>
      <p:sp>
        <p:nvSpPr>
          <p:cNvPr id="28" name="Text 26"/>
          <p:cNvSpPr/>
          <p:nvPr/>
        </p:nvSpPr>
        <p:spPr>
          <a:xfrm>
            <a:off x="662107" y="4575929"/>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Recall</a:t>
            </a:r>
            <a:endParaRPr lang="en-US" sz="1100" dirty="0"/>
          </a:p>
        </p:txBody>
      </p:sp>
      <p:sp>
        <p:nvSpPr>
          <p:cNvPr id="29" name="Text 27"/>
          <p:cNvSpPr/>
          <p:nvPr/>
        </p:nvSpPr>
        <p:spPr>
          <a:xfrm>
            <a:off x="3972639" y="4575929"/>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0.832</a:t>
            </a:r>
            <a:endParaRPr lang="en-US" sz="1100" dirty="0"/>
          </a:p>
        </p:txBody>
      </p:sp>
      <p:sp>
        <p:nvSpPr>
          <p:cNvPr id="30" name="Shape 28"/>
          <p:cNvSpPr/>
          <p:nvPr/>
        </p:nvSpPr>
        <p:spPr>
          <a:xfrm>
            <a:off x="516731" y="4903589"/>
            <a:ext cx="6613446" cy="422553"/>
          </a:xfrm>
          <a:prstGeom prst="rect">
            <a:avLst/>
          </a:prstGeom>
          <a:solidFill>
            <a:srgbClr val="000000">
              <a:alpha val="4000"/>
            </a:srgbClr>
          </a:solidFill>
          <a:ln/>
        </p:spPr>
      </p:sp>
      <p:sp>
        <p:nvSpPr>
          <p:cNvPr id="31" name="Text 29"/>
          <p:cNvSpPr/>
          <p:nvPr/>
        </p:nvSpPr>
        <p:spPr>
          <a:xfrm>
            <a:off x="662107" y="4998482"/>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F1-Score</a:t>
            </a:r>
            <a:endParaRPr lang="en-US" sz="1100" dirty="0"/>
          </a:p>
        </p:txBody>
      </p:sp>
      <p:sp>
        <p:nvSpPr>
          <p:cNvPr id="32" name="Text 30"/>
          <p:cNvSpPr/>
          <p:nvPr/>
        </p:nvSpPr>
        <p:spPr>
          <a:xfrm>
            <a:off x="3972639" y="4998482"/>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0.652</a:t>
            </a:r>
            <a:endParaRPr lang="en-US" sz="1100" dirty="0"/>
          </a:p>
        </p:txBody>
      </p:sp>
      <p:sp>
        <p:nvSpPr>
          <p:cNvPr id="33" name="Shape 31"/>
          <p:cNvSpPr/>
          <p:nvPr/>
        </p:nvSpPr>
        <p:spPr>
          <a:xfrm>
            <a:off x="516731" y="5326142"/>
            <a:ext cx="6613446" cy="422553"/>
          </a:xfrm>
          <a:prstGeom prst="rect">
            <a:avLst/>
          </a:prstGeom>
          <a:solidFill>
            <a:srgbClr val="FFFFFF">
              <a:alpha val="4000"/>
            </a:srgbClr>
          </a:solidFill>
          <a:ln/>
        </p:spPr>
      </p:sp>
      <p:sp>
        <p:nvSpPr>
          <p:cNvPr id="34" name="Text 32"/>
          <p:cNvSpPr/>
          <p:nvPr/>
        </p:nvSpPr>
        <p:spPr>
          <a:xfrm>
            <a:off x="662107" y="5421035"/>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ROC-AUC</a:t>
            </a:r>
            <a:endParaRPr lang="en-US" sz="1100" dirty="0"/>
          </a:p>
        </p:txBody>
      </p:sp>
      <p:sp>
        <p:nvSpPr>
          <p:cNvPr id="35" name="Text 33"/>
          <p:cNvSpPr/>
          <p:nvPr/>
        </p:nvSpPr>
        <p:spPr>
          <a:xfrm>
            <a:off x="3972639" y="5421035"/>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0.931</a:t>
            </a:r>
            <a:endParaRPr lang="en-US" sz="1100" dirty="0"/>
          </a:p>
        </p:txBody>
      </p:sp>
      <p:sp>
        <p:nvSpPr>
          <p:cNvPr id="36" name="Text 34"/>
          <p:cNvSpPr/>
          <p:nvPr/>
        </p:nvSpPr>
        <p:spPr>
          <a:xfrm>
            <a:off x="7500223" y="3237548"/>
            <a:ext cx="2509480" cy="227171"/>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Roboto Mono Medium" pitchFamily="34" charset="0"/>
                <a:ea typeface="Roboto Mono Medium" pitchFamily="34" charset="-122"/>
                <a:cs typeface="Roboto Mono Medium" pitchFamily="34" charset="-120"/>
              </a:rPr>
              <a:t>Top Feature Importances</a:t>
            </a:r>
            <a:endParaRPr lang="en-US" sz="1400" dirty="0"/>
          </a:p>
        </p:txBody>
      </p:sp>
      <p:sp>
        <p:nvSpPr>
          <p:cNvPr id="37" name="Shape 35"/>
          <p:cNvSpPr/>
          <p:nvPr/>
        </p:nvSpPr>
        <p:spPr>
          <a:xfrm>
            <a:off x="7500223" y="3628311"/>
            <a:ext cx="6628686" cy="2550557"/>
          </a:xfrm>
          <a:prstGeom prst="roundRect">
            <a:avLst>
              <a:gd name="adj" fmla="val 856"/>
            </a:avLst>
          </a:prstGeom>
          <a:noFill/>
          <a:ln w="7620">
            <a:solidFill>
              <a:srgbClr val="FFFFFF">
                <a:alpha val="24000"/>
              </a:srgbClr>
            </a:solidFill>
            <a:prstDash val="solid"/>
          </a:ln>
        </p:spPr>
      </p:sp>
      <p:sp>
        <p:nvSpPr>
          <p:cNvPr id="38" name="Shape 36"/>
          <p:cNvSpPr/>
          <p:nvPr/>
        </p:nvSpPr>
        <p:spPr>
          <a:xfrm>
            <a:off x="7507843" y="3635931"/>
            <a:ext cx="6613446" cy="422553"/>
          </a:xfrm>
          <a:prstGeom prst="rect">
            <a:avLst/>
          </a:prstGeom>
          <a:solidFill>
            <a:srgbClr val="FFFFFF">
              <a:alpha val="4000"/>
            </a:srgbClr>
          </a:solidFill>
          <a:ln/>
        </p:spPr>
      </p:sp>
      <p:sp>
        <p:nvSpPr>
          <p:cNvPr id="39" name="Text 37"/>
          <p:cNvSpPr/>
          <p:nvPr/>
        </p:nvSpPr>
        <p:spPr>
          <a:xfrm>
            <a:off x="7653218" y="3730823"/>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Month</a:t>
            </a:r>
            <a:endParaRPr lang="en-US" sz="1100" dirty="0"/>
          </a:p>
        </p:txBody>
      </p:sp>
      <p:sp>
        <p:nvSpPr>
          <p:cNvPr id="40" name="Text 38"/>
          <p:cNvSpPr/>
          <p:nvPr/>
        </p:nvSpPr>
        <p:spPr>
          <a:xfrm>
            <a:off x="10963751" y="3730823"/>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25.85%</a:t>
            </a:r>
            <a:endParaRPr lang="en-US" sz="1100" dirty="0"/>
          </a:p>
        </p:txBody>
      </p:sp>
      <p:sp>
        <p:nvSpPr>
          <p:cNvPr id="41" name="Shape 39"/>
          <p:cNvSpPr/>
          <p:nvPr/>
        </p:nvSpPr>
        <p:spPr>
          <a:xfrm>
            <a:off x="7507843" y="4058483"/>
            <a:ext cx="6613446" cy="422553"/>
          </a:xfrm>
          <a:prstGeom prst="rect">
            <a:avLst/>
          </a:prstGeom>
          <a:solidFill>
            <a:srgbClr val="000000">
              <a:alpha val="4000"/>
            </a:srgbClr>
          </a:solidFill>
          <a:ln/>
        </p:spPr>
      </p:sp>
      <p:sp>
        <p:nvSpPr>
          <p:cNvPr id="42" name="Text 40"/>
          <p:cNvSpPr/>
          <p:nvPr/>
        </p:nvSpPr>
        <p:spPr>
          <a:xfrm>
            <a:off x="7653218" y="4153376"/>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Page Values</a:t>
            </a:r>
            <a:endParaRPr lang="en-US" sz="1100" dirty="0"/>
          </a:p>
        </p:txBody>
      </p:sp>
      <p:sp>
        <p:nvSpPr>
          <p:cNvPr id="43" name="Text 41"/>
          <p:cNvSpPr/>
          <p:nvPr/>
        </p:nvSpPr>
        <p:spPr>
          <a:xfrm>
            <a:off x="10963751" y="4153376"/>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24.39%</a:t>
            </a:r>
            <a:endParaRPr lang="en-US" sz="1100" dirty="0"/>
          </a:p>
        </p:txBody>
      </p:sp>
      <p:sp>
        <p:nvSpPr>
          <p:cNvPr id="44" name="Shape 42"/>
          <p:cNvSpPr/>
          <p:nvPr/>
        </p:nvSpPr>
        <p:spPr>
          <a:xfrm>
            <a:off x="7507843" y="4481036"/>
            <a:ext cx="6613446" cy="422553"/>
          </a:xfrm>
          <a:prstGeom prst="rect">
            <a:avLst/>
          </a:prstGeom>
          <a:solidFill>
            <a:srgbClr val="FFFFFF">
              <a:alpha val="4000"/>
            </a:srgbClr>
          </a:solidFill>
          <a:ln/>
        </p:spPr>
      </p:sp>
      <p:sp>
        <p:nvSpPr>
          <p:cNvPr id="45" name="Text 43"/>
          <p:cNvSpPr/>
          <p:nvPr/>
        </p:nvSpPr>
        <p:spPr>
          <a:xfrm>
            <a:off x="7653218" y="4575929"/>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Page Value Product</a:t>
            </a:r>
            <a:endParaRPr lang="en-US" sz="1100" dirty="0"/>
          </a:p>
        </p:txBody>
      </p:sp>
      <p:sp>
        <p:nvSpPr>
          <p:cNvPr id="46" name="Text 44"/>
          <p:cNvSpPr/>
          <p:nvPr/>
        </p:nvSpPr>
        <p:spPr>
          <a:xfrm>
            <a:off x="10963751" y="4575929"/>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11.85%</a:t>
            </a:r>
            <a:endParaRPr lang="en-US" sz="1100" dirty="0"/>
          </a:p>
        </p:txBody>
      </p:sp>
      <p:sp>
        <p:nvSpPr>
          <p:cNvPr id="47" name="Shape 45"/>
          <p:cNvSpPr/>
          <p:nvPr/>
        </p:nvSpPr>
        <p:spPr>
          <a:xfrm>
            <a:off x="7507843" y="4903589"/>
            <a:ext cx="6613446" cy="422553"/>
          </a:xfrm>
          <a:prstGeom prst="rect">
            <a:avLst/>
          </a:prstGeom>
          <a:solidFill>
            <a:srgbClr val="000000">
              <a:alpha val="4000"/>
            </a:srgbClr>
          </a:solidFill>
          <a:ln/>
        </p:spPr>
      </p:sp>
      <p:sp>
        <p:nvSpPr>
          <p:cNvPr id="48" name="Text 46"/>
          <p:cNvSpPr/>
          <p:nvPr/>
        </p:nvSpPr>
        <p:spPr>
          <a:xfrm>
            <a:off x="7653218" y="4998482"/>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Exit Rates</a:t>
            </a:r>
            <a:endParaRPr lang="en-US" sz="1100" dirty="0"/>
          </a:p>
        </p:txBody>
      </p:sp>
      <p:sp>
        <p:nvSpPr>
          <p:cNvPr id="49" name="Text 47"/>
          <p:cNvSpPr/>
          <p:nvPr/>
        </p:nvSpPr>
        <p:spPr>
          <a:xfrm>
            <a:off x="10963751" y="4998482"/>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4.38%</a:t>
            </a:r>
            <a:endParaRPr lang="en-US" sz="1100" dirty="0"/>
          </a:p>
        </p:txBody>
      </p:sp>
      <p:sp>
        <p:nvSpPr>
          <p:cNvPr id="50" name="Shape 48"/>
          <p:cNvSpPr/>
          <p:nvPr/>
        </p:nvSpPr>
        <p:spPr>
          <a:xfrm>
            <a:off x="7507843" y="5326142"/>
            <a:ext cx="6613446" cy="422553"/>
          </a:xfrm>
          <a:prstGeom prst="rect">
            <a:avLst/>
          </a:prstGeom>
          <a:solidFill>
            <a:srgbClr val="FFFFFF">
              <a:alpha val="4000"/>
            </a:srgbClr>
          </a:solidFill>
          <a:ln/>
        </p:spPr>
      </p:sp>
      <p:sp>
        <p:nvSpPr>
          <p:cNvPr id="51" name="Text 49"/>
          <p:cNvSpPr/>
          <p:nvPr/>
        </p:nvSpPr>
        <p:spPr>
          <a:xfrm>
            <a:off x="7653218" y="5421035"/>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Total Page Duration</a:t>
            </a:r>
            <a:endParaRPr lang="en-US" sz="1100" dirty="0"/>
          </a:p>
        </p:txBody>
      </p:sp>
      <p:sp>
        <p:nvSpPr>
          <p:cNvPr id="52" name="Text 50"/>
          <p:cNvSpPr/>
          <p:nvPr/>
        </p:nvSpPr>
        <p:spPr>
          <a:xfrm>
            <a:off x="10963751" y="5421035"/>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3.63%</a:t>
            </a:r>
            <a:endParaRPr lang="en-US" sz="1100" dirty="0"/>
          </a:p>
        </p:txBody>
      </p:sp>
      <p:sp>
        <p:nvSpPr>
          <p:cNvPr id="53" name="Shape 51"/>
          <p:cNvSpPr/>
          <p:nvPr/>
        </p:nvSpPr>
        <p:spPr>
          <a:xfrm>
            <a:off x="7507843" y="5748695"/>
            <a:ext cx="6613446" cy="422553"/>
          </a:xfrm>
          <a:prstGeom prst="rect">
            <a:avLst/>
          </a:prstGeom>
          <a:solidFill>
            <a:srgbClr val="000000">
              <a:alpha val="4000"/>
            </a:srgbClr>
          </a:solidFill>
          <a:ln/>
        </p:spPr>
      </p:sp>
      <p:sp>
        <p:nvSpPr>
          <p:cNvPr id="54" name="Text 52"/>
          <p:cNvSpPr/>
          <p:nvPr/>
        </p:nvSpPr>
        <p:spPr>
          <a:xfrm>
            <a:off x="7653218" y="5843588"/>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Product Pages Ratio</a:t>
            </a:r>
            <a:endParaRPr lang="en-US" sz="1100" dirty="0"/>
          </a:p>
        </p:txBody>
      </p:sp>
      <p:sp>
        <p:nvSpPr>
          <p:cNvPr id="55" name="Text 53"/>
          <p:cNvSpPr/>
          <p:nvPr/>
        </p:nvSpPr>
        <p:spPr>
          <a:xfrm>
            <a:off x="10963751" y="5843588"/>
            <a:ext cx="3012162" cy="232767"/>
          </a:xfrm>
          <a:prstGeom prst="rect">
            <a:avLst/>
          </a:prstGeom>
          <a:noFill/>
          <a:ln/>
        </p:spPr>
        <p:txBody>
          <a:bodyPr wrap="none" lIns="0" tIns="0" rIns="0" bIns="0" rtlCol="0" anchor="t"/>
          <a:lstStyle/>
          <a:p>
            <a:pPr marL="0" indent="0" algn="l">
              <a:lnSpc>
                <a:spcPts val="1800"/>
              </a:lnSpc>
              <a:buNone/>
            </a:pPr>
            <a:r>
              <a:rPr lang="en-US" sz="1100" dirty="0">
                <a:solidFill>
                  <a:srgbClr val="E5E0DF"/>
                </a:solidFill>
                <a:latin typeface="Roboto" pitchFamily="34" charset="0"/>
                <a:ea typeface="Roboto" pitchFamily="34" charset="-122"/>
                <a:cs typeface="Roboto" pitchFamily="34" charset="-120"/>
              </a:rPr>
              <a:t>3.30%</a:t>
            </a:r>
            <a:endParaRPr lang="en-US" sz="1100" dirty="0"/>
          </a:p>
        </p:txBody>
      </p:sp>
      <p:sp>
        <p:nvSpPr>
          <p:cNvPr id="56" name="Text 54"/>
          <p:cNvSpPr/>
          <p:nvPr/>
        </p:nvSpPr>
        <p:spPr>
          <a:xfrm>
            <a:off x="509111" y="6506051"/>
            <a:ext cx="13612177" cy="698302"/>
          </a:xfrm>
          <a:prstGeom prst="rect">
            <a:avLst/>
          </a:prstGeom>
          <a:noFill/>
          <a:ln/>
        </p:spPr>
        <p:txBody>
          <a:bodyPr wrap="square" lIns="0" tIns="0" rIns="0" bIns="0" rtlCol="0" anchor="t"/>
          <a:lstStyle/>
          <a:p>
            <a:pPr marL="0" indent="0" algn="l">
              <a:lnSpc>
                <a:spcPts val="1800"/>
              </a:lnSpc>
              <a:buNone/>
            </a:pPr>
            <a:r>
              <a:rPr lang="en-US" sz="1400" dirty="0">
                <a:solidFill>
                  <a:srgbClr val="E5E0DF"/>
                </a:solidFill>
                <a:latin typeface="Roboto" pitchFamily="34" charset="0"/>
                <a:ea typeface="Roboto" pitchFamily="34" charset="-122"/>
                <a:cs typeface="Roboto" pitchFamily="34" charset="-120"/>
              </a:rPr>
              <a:t>The CatBoost classifier demonstrated strong predictive performance on the Online Shoppers Purchasing Intention dataset. Early stopping was triggered at 315 trees to prevent overfitting, indicating good generalization capability. The model achieved an </a:t>
            </a:r>
            <a:r>
              <a:rPr lang="en-US" sz="1400" b="1" dirty="0">
                <a:solidFill>
                  <a:srgbClr val="E5E0DF"/>
                </a:solidFill>
                <a:latin typeface="Roboto" pitchFamily="34" charset="0"/>
                <a:ea typeface="Roboto" pitchFamily="34" charset="-122"/>
                <a:cs typeface="Roboto" pitchFamily="34" charset="-120"/>
              </a:rPr>
              <a:t>accuracy</a:t>
            </a:r>
            <a:r>
              <a:rPr lang="en-US" sz="1400" dirty="0">
                <a:solidFill>
                  <a:srgbClr val="E5E0DF"/>
                </a:solidFill>
                <a:latin typeface="Roboto" pitchFamily="34" charset="0"/>
                <a:ea typeface="Roboto" pitchFamily="34" charset="-122"/>
                <a:cs typeface="Roboto" pitchFamily="34" charset="-120"/>
              </a:rPr>
              <a:t> of 86.25%, a </a:t>
            </a:r>
            <a:r>
              <a:rPr lang="en-US" sz="1400" b="1" dirty="0">
                <a:solidFill>
                  <a:srgbClr val="E5E0DF"/>
                </a:solidFill>
                <a:latin typeface="Roboto" pitchFamily="34" charset="0"/>
                <a:ea typeface="Roboto" pitchFamily="34" charset="-122"/>
                <a:cs typeface="Roboto" pitchFamily="34" charset="-120"/>
              </a:rPr>
              <a:t>recall</a:t>
            </a:r>
            <a:r>
              <a:rPr lang="en-US" sz="1400" dirty="0">
                <a:solidFill>
                  <a:srgbClr val="E5E0DF"/>
                </a:solidFill>
                <a:latin typeface="Roboto" pitchFamily="34" charset="0"/>
                <a:ea typeface="Roboto" pitchFamily="34" charset="-122"/>
                <a:cs typeface="Roboto" pitchFamily="34" charset="-120"/>
              </a:rPr>
              <a:t> of 83.25%, and an </a:t>
            </a:r>
            <a:r>
              <a:rPr lang="en-US" sz="1400" b="1" dirty="0">
                <a:solidFill>
                  <a:srgbClr val="E5E0DF"/>
                </a:solidFill>
                <a:latin typeface="Roboto" pitchFamily="34" charset="0"/>
                <a:ea typeface="Roboto" pitchFamily="34" charset="-122"/>
                <a:cs typeface="Roboto" pitchFamily="34" charset="-120"/>
              </a:rPr>
              <a:t>F1-score</a:t>
            </a:r>
            <a:r>
              <a:rPr lang="en-US" sz="1400" dirty="0">
                <a:solidFill>
                  <a:srgbClr val="E5E0DF"/>
                </a:solidFill>
                <a:latin typeface="Roboto" pitchFamily="34" charset="0"/>
                <a:ea typeface="Roboto" pitchFamily="34" charset="-122"/>
                <a:cs typeface="Roboto" pitchFamily="34" charset="-120"/>
              </a:rPr>
              <a:t> of 65.23%. Notably, the </a:t>
            </a:r>
            <a:r>
              <a:rPr lang="en-US" sz="1400" b="1" dirty="0">
                <a:solidFill>
                  <a:srgbClr val="E5E0DF"/>
                </a:solidFill>
                <a:latin typeface="Roboto" pitchFamily="34" charset="0"/>
                <a:ea typeface="Roboto" pitchFamily="34" charset="-122"/>
                <a:cs typeface="Roboto" pitchFamily="34" charset="-120"/>
              </a:rPr>
              <a:t>ROC–AUC score</a:t>
            </a:r>
            <a:r>
              <a:rPr lang="en-US" sz="1400" dirty="0">
                <a:solidFill>
                  <a:srgbClr val="E5E0DF"/>
                </a:solidFill>
                <a:latin typeface="Roboto" pitchFamily="34" charset="0"/>
                <a:ea typeface="Roboto" pitchFamily="34" charset="-122"/>
                <a:cs typeface="Roboto" pitchFamily="34" charset="-120"/>
              </a:rPr>
              <a:t> of 0.931 indicates excellent discrimination between purchasing and non-purchasing sessions, which is particularly important given the imbalanced nature of the dataset.</a:t>
            </a:r>
            <a:endParaRPr lang="en-US" sz="1400" dirty="0"/>
          </a:p>
        </p:txBody>
      </p:sp>
      <p:sp>
        <p:nvSpPr>
          <p:cNvPr id="57" name="Text 55"/>
          <p:cNvSpPr/>
          <p:nvPr/>
        </p:nvSpPr>
        <p:spPr>
          <a:xfrm>
            <a:off x="516732" y="7544873"/>
            <a:ext cx="13612177" cy="232767"/>
          </a:xfrm>
          <a:prstGeom prst="rect">
            <a:avLst/>
          </a:prstGeom>
          <a:noFill/>
          <a:ln/>
        </p:spPr>
        <p:txBody>
          <a:bodyPr wrap="none" lIns="0" tIns="0" rIns="0" bIns="0" rtlCol="0" anchor="t"/>
          <a:lstStyle/>
          <a:p>
            <a:pPr marL="0" indent="0" algn="l">
              <a:lnSpc>
                <a:spcPts val="1800"/>
              </a:lnSpc>
              <a:buNone/>
            </a:pPr>
            <a:r>
              <a:rPr lang="en-US" sz="1400" dirty="0">
                <a:solidFill>
                  <a:srgbClr val="E5E0DF"/>
                </a:solidFill>
                <a:latin typeface="Roboto" pitchFamily="34" charset="0"/>
                <a:ea typeface="Roboto" pitchFamily="34" charset="-122"/>
                <a:cs typeface="Roboto" pitchFamily="34" charset="-120"/>
              </a:rPr>
              <a:t>The final CatBoost model demonstrates strong predictive capabilities, with "Month," "Page Values," and "Page Value Product" identified as the most influential</a:t>
            </a:r>
          </a:p>
          <a:p>
            <a:pPr marL="0" indent="0" algn="l">
              <a:lnSpc>
                <a:spcPts val="1800"/>
              </a:lnSpc>
              <a:buNone/>
            </a:pPr>
            <a:r>
              <a:rPr lang="en-US" sz="1400" dirty="0">
                <a:solidFill>
                  <a:srgbClr val="E5E0DF"/>
                </a:solidFill>
                <a:latin typeface="Roboto" pitchFamily="34" charset="0"/>
                <a:ea typeface="Roboto" pitchFamily="34" charset="-122"/>
                <a:cs typeface="Roboto" pitchFamily="34" charset="-120"/>
              </a:rPr>
              <a:t> factors in predicting online shopper intention.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1358" y="619653"/>
            <a:ext cx="5228034" cy="363141"/>
          </a:xfrm>
          <a:prstGeom prst="rect">
            <a:avLst/>
          </a:prstGeom>
          <a:noFill/>
          <a:ln/>
        </p:spPr>
        <p:txBody>
          <a:bodyPr wrap="none" lIns="0" tIns="0" rIns="0" bIns="0" rtlCol="0" anchor="t"/>
          <a:lstStyle/>
          <a:p>
            <a:pPr marL="0" indent="0" algn="l">
              <a:lnSpc>
                <a:spcPts val="2850"/>
              </a:lnSpc>
              <a:buNone/>
            </a:pPr>
            <a:r>
              <a:rPr lang="en-US" sz="2250" dirty="0">
                <a:solidFill>
                  <a:srgbClr val="FFFFFF"/>
                </a:solidFill>
                <a:latin typeface="Roboto Mono Medium" pitchFamily="34" charset="0"/>
                <a:ea typeface="Roboto Mono Medium" pitchFamily="34" charset="-122"/>
                <a:cs typeface="Roboto Mono Medium" pitchFamily="34" charset="-120"/>
              </a:rPr>
              <a:t>Conclusion &amp; Future Directions</a:t>
            </a:r>
            <a:endParaRPr lang="en-US" sz="2250" dirty="0"/>
          </a:p>
        </p:txBody>
      </p:sp>
      <p:sp>
        <p:nvSpPr>
          <p:cNvPr id="3" name="Text 1"/>
          <p:cNvSpPr/>
          <p:nvPr/>
        </p:nvSpPr>
        <p:spPr>
          <a:xfrm>
            <a:off x="371716" y="1451774"/>
            <a:ext cx="2525911" cy="181570"/>
          </a:xfrm>
          <a:prstGeom prst="rect">
            <a:avLst/>
          </a:prstGeom>
          <a:noFill/>
          <a:ln/>
        </p:spPr>
        <p:txBody>
          <a:bodyPr wrap="none" lIns="0" tIns="0" rIns="0" bIns="0" rtlCol="0" anchor="t"/>
          <a:lstStyle/>
          <a:p>
            <a:pPr marL="0" indent="0" algn="l">
              <a:lnSpc>
                <a:spcPts val="1400"/>
              </a:lnSpc>
              <a:buNone/>
            </a:pPr>
            <a:r>
              <a:rPr lang="en-US" sz="1600" dirty="0">
                <a:solidFill>
                  <a:srgbClr val="FFFFFF"/>
                </a:solidFill>
                <a:latin typeface="Roboto Mono Medium" pitchFamily="34" charset="0"/>
                <a:ea typeface="Roboto Mono Medium" pitchFamily="34" charset="-122"/>
                <a:cs typeface="Roboto Mono Medium" pitchFamily="34" charset="-120"/>
              </a:rPr>
              <a:t>Optimal Model for Prediction:</a:t>
            </a:r>
            <a:endParaRPr lang="en-US" sz="1600" dirty="0"/>
          </a:p>
        </p:txBody>
      </p:sp>
      <p:sp>
        <p:nvSpPr>
          <p:cNvPr id="4" name="Text 2"/>
          <p:cNvSpPr/>
          <p:nvPr/>
        </p:nvSpPr>
        <p:spPr>
          <a:xfrm>
            <a:off x="391840" y="2065750"/>
            <a:ext cx="6766798" cy="1128337"/>
          </a:xfrm>
          <a:prstGeom prst="rect">
            <a:avLst/>
          </a:prstGeom>
          <a:noFill/>
          <a:ln/>
        </p:spPr>
        <p:txBody>
          <a:bodyPr wrap="square" lIns="0" tIns="0" rIns="0" bIns="0" rtlCol="0" anchor="t"/>
          <a:lstStyle/>
          <a:p>
            <a:pPr marL="0" indent="0" algn="l">
              <a:buNone/>
            </a:pPr>
            <a:r>
              <a:rPr lang="en-US" sz="1600" dirty="0">
                <a:solidFill>
                  <a:srgbClr val="E5E0DF"/>
                </a:solidFill>
                <a:latin typeface="Roboto" pitchFamily="34" charset="0"/>
                <a:ea typeface="Roboto" pitchFamily="34" charset="-122"/>
                <a:cs typeface="Roboto" pitchFamily="34" charset="-120"/>
              </a:rPr>
              <a:t>The  </a:t>
            </a:r>
            <a:r>
              <a:rPr lang="en-US" sz="1600" dirty="0">
                <a:solidFill>
                  <a:schemeClr val="accent4"/>
                </a:solidFill>
                <a:latin typeface="Roboto" pitchFamily="34" charset="0"/>
                <a:ea typeface="Roboto" pitchFamily="34" charset="-122"/>
                <a:cs typeface="Roboto" pitchFamily="34" charset="-120"/>
              </a:rPr>
              <a:t>Gradient Boosting Algorithm</a:t>
            </a:r>
            <a:r>
              <a:rPr lang="en-US" sz="1600" dirty="0">
                <a:solidFill>
                  <a:srgbClr val="E5E0DF"/>
                </a:solidFill>
                <a:latin typeface="Roboto" pitchFamily="34" charset="0"/>
                <a:ea typeface="Roboto" pitchFamily="34" charset="-122"/>
                <a:cs typeface="Roboto" pitchFamily="34" charset="-120"/>
              </a:rPr>
              <a:t> demonstrating an accuracy of around 91% and precision of 76% after tuning. CatBoost also showed promising results, particularly with a high ROC-AUC of 0.931.</a:t>
            </a:r>
            <a:endParaRPr lang="en-US" sz="1600" dirty="0"/>
          </a:p>
        </p:txBody>
      </p:sp>
      <p:sp>
        <p:nvSpPr>
          <p:cNvPr id="5" name="Text 3"/>
          <p:cNvSpPr/>
          <p:nvPr/>
        </p:nvSpPr>
        <p:spPr>
          <a:xfrm>
            <a:off x="391840" y="3476368"/>
            <a:ext cx="2612946" cy="181570"/>
          </a:xfrm>
          <a:prstGeom prst="rect">
            <a:avLst/>
          </a:prstGeom>
          <a:noFill/>
          <a:ln/>
        </p:spPr>
        <p:txBody>
          <a:bodyPr wrap="none" lIns="0" tIns="0" rIns="0" bIns="0" rtlCol="0" anchor="t"/>
          <a:lstStyle/>
          <a:p>
            <a:pPr marL="0" indent="0" algn="l">
              <a:lnSpc>
                <a:spcPts val="1400"/>
              </a:lnSpc>
              <a:buNone/>
            </a:pPr>
            <a:r>
              <a:rPr lang="en-US" dirty="0">
                <a:solidFill>
                  <a:srgbClr val="FFFFFF"/>
                </a:solidFill>
                <a:latin typeface="Roboto Mono Medium" pitchFamily="34" charset="0"/>
                <a:ea typeface="Roboto Mono Medium" pitchFamily="34" charset="-122"/>
                <a:cs typeface="Roboto Mono Medium" pitchFamily="34" charset="-120"/>
              </a:rPr>
              <a:t>Feature Importance (CatBoost):</a:t>
            </a:r>
            <a:endParaRPr lang="en-US" dirty="0"/>
          </a:p>
        </p:txBody>
      </p:sp>
      <p:sp>
        <p:nvSpPr>
          <p:cNvPr id="6" name="Shape 4"/>
          <p:cNvSpPr/>
          <p:nvPr/>
        </p:nvSpPr>
        <p:spPr>
          <a:xfrm>
            <a:off x="493872" y="6898362"/>
            <a:ext cx="464820" cy="716042"/>
          </a:xfrm>
          <a:prstGeom prst="roundRect">
            <a:avLst>
              <a:gd name="adj" fmla="val 360022"/>
            </a:avLst>
          </a:prstGeom>
          <a:solidFill>
            <a:srgbClr val="404040"/>
          </a:solidFill>
          <a:ln/>
        </p:spPr>
        <p:txBody>
          <a:bodyPr/>
          <a:lstStyle/>
          <a:p>
            <a:pPr algn="just"/>
            <a:r>
              <a:rPr lang="en-US" dirty="0">
                <a:solidFill>
                  <a:schemeClr val="bg1"/>
                </a:solidFill>
              </a:rPr>
              <a:t>4</a:t>
            </a:r>
          </a:p>
        </p:txBody>
      </p:sp>
      <p:sp>
        <p:nvSpPr>
          <p:cNvPr id="8" name="Text 6"/>
          <p:cNvSpPr/>
          <p:nvPr/>
        </p:nvSpPr>
        <p:spPr>
          <a:xfrm>
            <a:off x="943814" y="4141433"/>
            <a:ext cx="1452562" cy="181570"/>
          </a:xfrm>
          <a:prstGeom prst="rect">
            <a:avLst/>
          </a:prstGeom>
          <a:noFill/>
          <a:ln/>
        </p:spPr>
        <p:txBody>
          <a:bodyPr wrap="none" lIns="0" tIns="0" rIns="0" bIns="0" rtlCol="0" anchor="t"/>
          <a:lstStyle/>
          <a:p>
            <a:pPr marL="0" indent="0" algn="l">
              <a:lnSpc>
                <a:spcPts val="1400"/>
              </a:lnSpc>
              <a:buNone/>
            </a:pPr>
            <a:r>
              <a:rPr lang="en-US" sz="1400" dirty="0">
                <a:solidFill>
                  <a:srgbClr val="E5E0DF"/>
                </a:solidFill>
                <a:latin typeface="Roboto Mono Medium" pitchFamily="34" charset="0"/>
                <a:ea typeface="Roboto Mono Medium" pitchFamily="34" charset="-122"/>
                <a:cs typeface="Roboto Mono Medium" pitchFamily="34" charset="-120"/>
              </a:rPr>
              <a:t>Month</a:t>
            </a:r>
            <a:endParaRPr lang="en-US" sz="1400" dirty="0"/>
          </a:p>
        </p:txBody>
      </p:sp>
      <p:sp>
        <p:nvSpPr>
          <p:cNvPr id="9" name="Text 7"/>
          <p:cNvSpPr/>
          <p:nvPr/>
        </p:nvSpPr>
        <p:spPr>
          <a:xfrm>
            <a:off x="943814" y="4410888"/>
            <a:ext cx="6185773" cy="185857"/>
          </a:xfrm>
          <a:prstGeom prst="rect">
            <a:avLst/>
          </a:prstGeom>
          <a:noFill/>
          <a:ln/>
        </p:spPr>
        <p:txBody>
          <a:bodyPr wrap="none" lIns="0" tIns="0" rIns="0" bIns="0" rtlCol="0" anchor="t"/>
          <a:lstStyle/>
          <a:p>
            <a:pPr marL="0" indent="0" algn="l">
              <a:lnSpc>
                <a:spcPts val="1450"/>
              </a:lnSpc>
              <a:buNone/>
            </a:pPr>
            <a:r>
              <a:rPr lang="en-US" sz="1400" dirty="0">
                <a:solidFill>
                  <a:srgbClr val="E5E0DF"/>
                </a:solidFill>
                <a:latin typeface="Roboto" pitchFamily="34" charset="0"/>
                <a:ea typeface="Roboto" pitchFamily="34" charset="-122"/>
                <a:cs typeface="Roboto" pitchFamily="34" charset="-120"/>
              </a:rPr>
              <a:t>Highly influential (25.85%), indicating strong seasonal purchasing patterns.</a:t>
            </a:r>
            <a:endParaRPr lang="en-US" sz="1400" dirty="0"/>
          </a:p>
        </p:txBody>
      </p:sp>
      <p:sp>
        <p:nvSpPr>
          <p:cNvPr id="10" name="Shape 8"/>
          <p:cNvSpPr/>
          <p:nvPr/>
        </p:nvSpPr>
        <p:spPr>
          <a:xfrm>
            <a:off x="341358" y="4058900"/>
            <a:ext cx="464820" cy="716042"/>
          </a:xfrm>
          <a:prstGeom prst="roundRect">
            <a:avLst>
              <a:gd name="adj" fmla="val 360022"/>
            </a:avLst>
          </a:prstGeom>
          <a:solidFill>
            <a:srgbClr val="404040"/>
          </a:solidFill>
          <a:ln/>
        </p:spPr>
        <p:txBody>
          <a:bodyPr/>
          <a:lstStyle/>
          <a:p>
            <a:r>
              <a:rPr lang="en-US" dirty="0">
                <a:solidFill>
                  <a:schemeClr val="bg1"/>
                </a:solidFill>
              </a:rPr>
              <a:t>1</a:t>
            </a:r>
          </a:p>
        </p:txBody>
      </p:sp>
      <p:sp>
        <p:nvSpPr>
          <p:cNvPr id="12" name="Text 10"/>
          <p:cNvSpPr/>
          <p:nvPr/>
        </p:nvSpPr>
        <p:spPr>
          <a:xfrm>
            <a:off x="987742" y="5041101"/>
            <a:ext cx="1452562" cy="181570"/>
          </a:xfrm>
          <a:prstGeom prst="rect">
            <a:avLst/>
          </a:prstGeom>
          <a:noFill/>
          <a:ln/>
        </p:spPr>
        <p:txBody>
          <a:bodyPr wrap="none" lIns="0" tIns="0" rIns="0" bIns="0" rtlCol="0" anchor="t"/>
          <a:lstStyle/>
          <a:p>
            <a:pPr marL="0" indent="0" algn="l">
              <a:lnSpc>
                <a:spcPts val="1400"/>
              </a:lnSpc>
              <a:buNone/>
            </a:pPr>
            <a:r>
              <a:rPr lang="en-US" sz="1400" dirty="0">
                <a:solidFill>
                  <a:srgbClr val="E5E0DF"/>
                </a:solidFill>
                <a:latin typeface="Roboto Mono Medium" pitchFamily="34" charset="0"/>
                <a:ea typeface="Roboto Mono Medium" pitchFamily="34" charset="-122"/>
                <a:cs typeface="Roboto Mono Medium" pitchFamily="34" charset="-120"/>
              </a:rPr>
              <a:t>PageValues</a:t>
            </a:r>
            <a:endParaRPr lang="en-US" sz="1400" dirty="0"/>
          </a:p>
        </p:txBody>
      </p:sp>
      <p:sp>
        <p:nvSpPr>
          <p:cNvPr id="13" name="Text 11"/>
          <p:cNvSpPr/>
          <p:nvPr/>
        </p:nvSpPr>
        <p:spPr>
          <a:xfrm>
            <a:off x="987742" y="5308128"/>
            <a:ext cx="6185773" cy="185857"/>
          </a:xfrm>
          <a:prstGeom prst="rect">
            <a:avLst/>
          </a:prstGeom>
          <a:noFill/>
          <a:ln/>
        </p:spPr>
        <p:txBody>
          <a:bodyPr wrap="none" lIns="0" tIns="0" rIns="0" bIns="0" rtlCol="0" anchor="t"/>
          <a:lstStyle/>
          <a:p>
            <a:pPr marL="0" indent="0" algn="l">
              <a:lnSpc>
                <a:spcPts val="1450"/>
              </a:lnSpc>
              <a:buNone/>
            </a:pPr>
            <a:r>
              <a:rPr lang="en-US" sz="1400" dirty="0">
                <a:solidFill>
                  <a:srgbClr val="E5E0DF"/>
                </a:solidFill>
                <a:latin typeface="Roboto" pitchFamily="34" charset="0"/>
                <a:ea typeface="Roboto" pitchFamily="34" charset="-122"/>
                <a:cs typeface="Roboto" pitchFamily="34" charset="-120"/>
              </a:rPr>
              <a:t>Significant impact (24.39%), reflecting the value generated </a:t>
            </a:r>
          </a:p>
          <a:p>
            <a:pPr marL="0" indent="0" algn="l">
              <a:lnSpc>
                <a:spcPts val="1450"/>
              </a:lnSpc>
              <a:buNone/>
            </a:pPr>
            <a:r>
              <a:rPr lang="en-US" sz="1400" dirty="0">
                <a:solidFill>
                  <a:srgbClr val="E5E0DF"/>
                </a:solidFill>
                <a:latin typeface="Roboto" pitchFamily="34" charset="0"/>
                <a:ea typeface="Roboto" pitchFamily="34" charset="-122"/>
                <a:cs typeface="Roboto" pitchFamily="34" charset="-120"/>
              </a:rPr>
              <a:t>by user interactions on certain pages.</a:t>
            </a:r>
            <a:endParaRPr lang="en-US" sz="1400" dirty="0"/>
          </a:p>
        </p:txBody>
      </p:sp>
      <p:sp>
        <p:nvSpPr>
          <p:cNvPr id="14" name="Shape 12"/>
          <p:cNvSpPr/>
          <p:nvPr/>
        </p:nvSpPr>
        <p:spPr>
          <a:xfrm>
            <a:off x="391840" y="4981932"/>
            <a:ext cx="464820" cy="716042"/>
          </a:xfrm>
          <a:prstGeom prst="roundRect">
            <a:avLst>
              <a:gd name="adj" fmla="val 360022"/>
            </a:avLst>
          </a:prstGeom>
          <a:solidFill>
            <a:srgbClr val="404040"/>
          </a:solidFill>
          <a:ln/>
        </p:spPr>
        <p:txBody>
          <a:bodyPr/>
          <a:lstStyle/>
          <a:p>
            <a:r>
              <a:rPr lang="en-US" dirty="0">
                <a:solidFill>
                  <a:schemeClr val="bg1"/>
                </a:solidFill>
              </a:rPr>
              <a:t>2</a:t>
            </a:r>
          </a:p>
        </p:txBody>
      </p:sp>
      <p:sp>
        <p:nvSpPr>
          <p:cNvPr id="15" name="Text 13"/>
          <p:cNvSpPr/>
          <p:nvPr/>
        </p:nvSpPr>
        <p:spPr>
          <a:xfrm>
            <a:off x="551974" y="3984784"/>
            <a:ext cx="174308" cy="217884"/>
          </a:xfrm>
          <a:prstGeom prst="rect">
            <a:avLst/>
          </a:prstGeom>
          <a:noFill/>
          <a:ln/>
        </p:spPr>
        <p:txBody>
          <a:bodyPr wrap="none" lIns="0" tIns="0" rIns="0" bIns="0" rtlCol="0" anchor="t"/>
          <a:lstStyle/>
          <a:p>
            <a:pPr marL="0" indent="0" algn="l">
              <a:lnSpc>
                <a:spcPts val="1350"/>
              </a:lnSpc>
              <a:buNone/>
            </a:pPr>
            <a:endParaRPr lang="en-US" sz="1350" dirty="0"/>
          </a:p>
        </p:txBody>
      </p:sp>
      <p:sp>
        <p:nvSpPr>
          <p:cNvPr id="16" name="Text 14"/>
          <p:cNvSpPr/>
          <p:nvPr/>
        </p:nvSpPr>
        <p:spPr>
          <a:xfrm>
            <a:off x="987742" y="5967351"/>
            <a:ext cx="1452562" cy="181570"/>
          </a:xfrm>
          <a:prstGeom prst="rect">
            <a:avLst/>
          </a:prstGeom>
          <a:noFill/>
          <a:ln/>
        </p:spPr>
        <p:txBody>
          <a:bodyPr wrap="none" lIns="0" tIns="0" rIns="0" bIns="0" rtlCol="0" anchor="t"/>
          <a:lstStyle/>
          <a:p>
            <a:pPr marL="0" indent="0" algn="l">
              <a:lnSpc>
                <a:spcPts val="1400"/>
              </a:lnSpc>
              <a:buNone/>
            </a:pPr>
            <a:r>
              <a:rPr lang="en-US" sz="1400" dirty="0">
                <a:solidFill>
                  <a:srgbClr val="E5E0DF"/>
                </a:solidFill>
                <a:latin typeface="Roboto Mono Medium" pitchFamily="34" charset="0"/>
                <a:ea typeface="Roboto Mono Medium" pitchFamily="34" charset="-122"/>
                <a:cs typeface="Roboto Mono Medium" pitchFamily="34" charset="-120"/>
              </a:rPr>
              <a:t>PageValueProduct</a:t>
            </a:r>
            <a:endParaRPr lang="en-US" sz="1400" dirty="0"/>
          </a:p>
        </p:txBody>
      </p:sp>
      <p:sp>
        <p:nvSpPr>
          <p:cNvPr id="17" name="Text 15"/>
          <p:cNvSpPr/>
          <p:nvPr/>
        </p:nvSpPr>
        <p:spPr>
          <a:xfrm>
            <a:off x="1042455" y="6242566"/>
            <a:ext cx="6185773" cy="185857"/>
          </a:xfrm>
          <a:prstGeom prst="rect">
            <a:avLst/>
          </a:prstGeom>
          <a:noFill/>
          <a:ln/>
        </p:spPr>
        <p:txBody>
          <a:bodyPr wrap="none" lIns="0" tIns="0" rIns="0" bIns="0" rtlCol="0" anchor="t"/>
          <a:lstStyle/>
          <a:p>
            <a:pPr marL="0" indent="0" algn="l">
              <a:lnSpc>
                <a:spcPts val="1450"/>
              </a:lnSpc>
              <a:buNone/>
            </a:pPr>
            <a:r>
              <a:rPr lang="en-US" sz="1400" dirty="0">
                <a:solidFill>
                  <a:srgbClr val="E5E0DF"/>
                </a:solidFill>
                <a:latin typeface="Roboto" pitchFamily="34" charset="0"/>
                <a:ea typeface="Roboto" pitchFamily="34" charset="-122"/>
                <a:cs typeface="Roboto" pitchFamily="34" charset="-120"/>
              </a:rPr>
              <a:t>Crucial (11.85%), showing the direct contribution of product pages to revenue.</a:t>
            </a:r>
            <a:endParaRPr lang="en-US" sz="1400" dirty="0"/>
          </a:p>
        </p:txBody>
      </p:sp>
      <p:sp>
        <p:nvSpPr>
          <p:cNvPr id="18" name="Shape 16"/>
          <p:cNvSpPr/>
          <p:nvPr/>
        </p:nvSpPr>
        <p:spPr>
          <a:xfrm>
            <a:off x="430991" y="5900039"/>
            <a:ext cx="464820" cy="716042"/>
          </a:xfrm>
          <a:prstGeom prst="roundRect">
            <a:avLst>
              <a:gd name="adj" fmla="val 360022"/>
            </a:avLst>
          </a:prstGeom>
          <a:solidFill>
            <a:srgbClr val="404040"/>
          </a:solidFill>
          <a:ln/>
        </p:spPr>
        <p:txBody>
          <a:bodyPr/>
          <a:lstStyle/>
          <a:p>
            <a:r>
              <a:rPr lang="en-US" dirty="0">
                <a:solidFill>
                  <a:schemeClr val="bg1"/>
                </a:solidFill>
              </a:rPr>
              <a:t>3</a:t>
            </a:r>
          </a:p>
        </p:txBody>
      </p:sp>
      <p:sp>
        <p:nvSpPr>
          <p:cNvPr id="20" name="Text 18"/>
          <p:cNvSpPr/>
          <p:nvPr/>
        </p:nvSpPr>
        <p:spPr>
          <a:xfrm>
            <a:off x="1042455" y="7074813"/>
            <a:ext cx="1452562" cy="181570"/>
          </a:xfrm>
          <a:prstGeom prst="rect">
            <a:avLst/>
          </a:prstGeom>
          <a:noFill/>
          <a:ln/>
        </p:spPr>
        <p:txBody>
          <a:bodyPr wrap="none" lIns="0" tIns="0" rIns="0" bIns="0" rtlCol="0" anchor="t"/>
          <a:lstStyle/>
          <a:p>
            <a:pPr marL="0" indent="0" algn="l">
              <a:lnSpc>
                <a:spcPts val="1400"/>
              </a:lnSpc>
              <a:buNone/>
            </a:pPr>
            <a:r>
              <a:rPr lang="en-US" sz="1400" dirty="0">
                <a:solidFill>
                  <a:srgbClr val="E5E0DF"/>
                </a:solidFill>
                <a:latin typeface="Roboto Mono Medium" pitchFamily="34" charset="0"/>
                <a:ea typeface="Roboto Mono Medium" pitchFamily="34" charset="-122"/>
                <a:cs typeface="Roboto Mono Medium" pitchFamily="34" charset="-120"/>
              </a:rPr>
              <a:t>ExitRates</a:t>
            </a:r>
            <a:endParaRPr lang="en-US" sz="1400" dirty="0"/>
          </a:p>
        </p:txBody>
      </p:sp>
      <p:sp>
        <p:nvSpPr>
          <p:cNvPr id="21" name="Text 19"/>
          <p:cNvSpPr/>
          <p:nvPr/>
        </p:nvSpPr>
        <p:spPr>
          <a:xfrm>
            <a:off x="1042455" y="7339386"/>
            <a:ext cx="6185773" cy="185857"/>
          </a:xfrm>
          <a:prstGeom prst="rect">
            <a:avLst/>
          </a:prstGeom>
          <a:noFill/>
          <a:ln/>
        </p:spPr>
        <p:txBody>
          <a:bodyPr wrap="none" lIns="0" tIns="0" rIns="0" bIns="0" rtlCol="0" anchor="t"/>
          <a:lstStyle/>
          <a:p>
            <a:pPr marL="0" indent="0" algn="l">
              <a:lnSpc>
                <a:spcPts val="1450"/>
              </a:lnSpc>
              <a:buNone/>
            </a:pPr>
            <a:r>
              <a:rPr lang="en-US" sz="1400" dirty="0">
                <a:solidFill>
                  <a:srgbClr val="E5E0DF"/>
                </a:solidFill>
                <a:latin typeface="Roboto" pitchFamily="34" charset="0"/>
                <a:ea typeface="Roboto" pitchFamily="34" charset="-122"/>
                <a:cs typeface="Roboto" pitchFamily="34" charset="-120"/>
              </a:rPr>
              <a:t>A notable factor (4.38%), indicating points where users leave the site.</a:t>
            </a:r>
            <a:endParaRPr lang="en-US" sz="1400" dirty="0"/>
          </a:p>
        </p:txBody>
      </p:sp>
      <p:pic>
        <p:nvPicPr>
          <p:cNvPr id="22" name="Image 0" descr="preencoded.png"/>
          <p:cNvPicPr>
            <a:picLocks noChangeAspect="1"/>
          </p:cNvPicPr>
          <p:nvPr/>
        </p:nvPicPr>
        <p:blipFill>
          <a:blip r:embed="rId3"/>
          <a:stretch>
            <a:fillRect/>
          </a:stretch>
        </p:blipFill>
        <p:spPr>
          <a:xfrm>
            <a:off x="7464504" y="987743"/>
            <a:ext cx="6766798" cy="6766798"/>
          </a:xfrm>
          <a:prstGeom prst="rect">
            <a:avLst/>
          </a:prstGeom>
        </p:spPr>
      </p:pic>
      <p:sp>
        <p:nvSpPr>
          <p:cNvPr id="23" name="Text 20"/>
          <p:cNvSpPr/>
          <p:nvPr/>
        </p:nvSpPr>
        <p:spPr>
          <a:xfrm>
            <a:off x="7464504" y="7885271"/>
            <a:ext cx="1829038" cy="181570"/>
          </a:xfrm>
          <a:prstGeom prst="rect">
            <a:avLst/>
          </a:prstGeom>
          <a:noFill/>
          <a:ln/>
        </p:spPr>
        <p:txBody>
          <a:bodyPr wrap="none" lIns="0" tIns="0" rIns="0" bIns="0" rtlCol="0" anchor="t"/>
          <a:lstStyle/>
          <a:p>
            <a:pPr marL="0" indent="0" algn="l">
              <a:lnSpc>
                <a:spcPts val="1400"/>
              </a:lnSpc>
              <a:buNone/>
            </a:pPr>
            <a:endParaRPr lang="en-US" sz="1100" dirty="0"/>
          </a:p>
        </p:txBody>
      </p:sp>
      <p:sp>
        <p:nvSpPr>
          <p:cNvPr id="25" name="Text 22"/>
          <p:cNvSpPr/>
          <p:nvPr/>
        </p:nvSpPr>
        <p:spPr>
          <a:xfrm>
            <a:off x="7464504" y="8670965"/>
            <a:ext cx="1452562" cy="181570"/>
          </a:xfrm>
          <a:prstGeom prst="rect">
            <a:avLst/>
          </a:prstGeom>
          <a:noFill/>
          <a:ln/>
        </p:spPr>
        <p:txBody>
          <a:bodyPr wrap="none" lIns="0" tIns="0" rIns="0" bIns="0" rtlCol="0" anchor="t"/>
          <a:lstStyle/>
          <a:p>
            <a:pPr marL="0" indent="0" algn="l">
              <a:lnSpc>
                <a:spcPts val="1400"/>
              </a:lnSpc>
              <a:buNone/>
            </a:pPr>
            <a:endParaRPr lang="en-US" sz="1100" dirty="0"/>
          </a:p>
        </p:txBody>
      </p:sp>
      <p:sp>
        <p:nvSpPr>
          <p:cNvPr id="26" name="Text 23"/>
          <p:cNvSpPr/>
          <p:nvPr/>
        </p:nvSpPr>
        <p:spPr>
          <a:xfrm>
            <a:off x="7464504" y="8968740"/>
            <a:ext cx="6766798" cy="557570"/>
          </a:xfrm>
          <a:prstGeom prst="rect">
            <a:avLst/>
          </a:prstGeom>
          <a:noFill/>
          <a:ln/>
        </p:spPr>
        <p:txBody>
          <a:bodyPr wrap="square" lIns="0" tIns="0" rIns="0" bIns="0" rtlCol="0" anchor="t"/>
          <a:lstStyle/>
          <a:p>
            <a:pPr marL="0" indent="0" algn="l">
              <a:lnSpc>
                <a:spcPts val="1450"/>
              </a:lnSpc>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1075</Words>
  <Application>Microsoft Office PowerPoint</Application>
  <PresentationFormat>Custom</PresentationFormat>
  <Paragraphs>158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Roboto Mono Medium</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farhat khalid</cp:lastModifiedBy>
  <cp:revision>8</cp:revision>
  <dcterms:created xsi:type="dcterms:W3CDTF">2025-12-17T08:13:17Z</dcterms:created>
  <dcterms:modified xsi:type="dcterms:W3CDTF">2025-12-17T12:52:47Z</dcterms:modified>
</cp:coreProperties>
</file>